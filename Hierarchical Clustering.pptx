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Lst>
  <p:sldSz cy="6858000" cx="12192000"/>
  <p:notesSz cx="6858000" cy="9144000"/>
  <p:embeddedFontLst>
    <p:embeddedFont>
      <p:font typeface="Playfair Display"/>
      <p:regular r:id="rId19"/>
      <p:bold r:id="rId20"/>
      <p:italic r:id="rId21"/>
      <p:boldItalic r:id="rId22"/>
    </p:embeddedFont>
    <p:embeddedFont>
      <p:font typeface="Lato"/>
      <p:regular r:id="rId23"/>
      <p:bold r:id="rId24"/>
      <p:italic r:id="rId25"/>
      <p:boldItalic r:id="rId2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PlayfairDisplay-bold.fntdata"/><Relationship Id="rId22" Type="http://schemas.openxmlformats.org/officeDocument/2006/relationships/font" Target="fonts/PlayfairDisplay-boldItalic.fntdata"/><Relationship Id="rId21" Type="http://schemas.openxmlformats.org/officeDocument/2006/relationships/font" Target="fonts/PlayfairDisplay-italic.fntdata"/><Relationship Id="rId24" Type="http://schemas.openxmlformats.org/officeDocument/2006/relationships/font" Target="fonts/Lato-bold.fntdata"/><Relationship Id="rId23" Type="http://schemas.openxmlformats.org/officeDocument/2006/relationships/font" Target="fonts/Lato-regular.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Lato-boldItalic.fntdata"/><Relationship Id="rId25" Type="http://schemas.openxmlformats.org/officeDocument/2006/relationships/font" Target="fonts/Lato-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font" Target="fonts/PlayfairDisplay-regular.fntdata"/><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3aa5374c18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g3aa5374c181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g3aa5374c181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g3aa5374c181_0_4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g3a7aad11af0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g3a7aad11af0_1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9" name="Google Shape;259;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0"/>
          <p:cNvSpPr/>
          <p:nvPr>
            <p:ph idx="2" type="pic"/>
          </p:nvPr>
        </p:nvSpPr>
        <p:spPr>
          <a:xfrm>
            <a:off x="1792288" y="612775"/>
            <a:ext cx="5486400" cy="4114800"/>
          </a:xfrm>
          <a:prstGeom prst="rect">
            <a:avLst/>
          </a:prstGeom>
          <a:noFill/>
          <a:ln>
            <a:noFill/>
          </a:ln>
        </p:spPr>
      </p:sp>
      <p:sp>
        <p:nvSpPr>
          <p:cNvPr id="64" name="Google Shape;64;p1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png"/><Relationship Id="rId4" Type="http://schemas.openxmlformats.org/officeDocument/2006/relationships/image" Target="../media/image1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3.png"/><Relationship Id="rId4" Type="http://schemas.openxmlformats.org/officeDocument/2006/relationships/image" Target="../media/image9.png"/><Relationship Id="rId9" Type="http://schemas.openxmlformats.org/officeDocument/2006/relationships/image" Target="../media/image4.png"/><Relationship Id="rId5" Type="http://schemas.openxmlformats.org/officeDocument/2006/relationships/image" Target="../media/image15.png"/><Relationship Id="rId6" Type="http://schemas.openxmlformats.org/officeDocument/2006/relationships/hyperlink" Target="https://www.datacamp.com/blog/introduction-to-unsupervised-learning" TargetMode="External"/><Relationship Id="rId7" Type="http://schemas.openxmlformats.org/officeDocument/2006/relationships/image" Target="../media/image1.png"/><Relationship Id="rId8" Type="http://schemas.openxmlformats.org/officeDocument/2006/relationships/image" Target="../media/image1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3.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3.png"/><Relationship Id="rId4" Type="http://schemas.openxmlformats.org/officeDocument/2006/relationships/image" Target="../media/image7.png"/><Relationship Id="rId9" Type="http://schemas.openxmlformats.org/officeDocument/2006/relationships/image" Target="../media/image14.png"/><Relationship Id="rId5" Type="http://schemas.openxmlformats.org/officeDocument/2006/relationships/image" Target="../media/image10.png"/><Relationship Id="rId6" Type="http://schemas.openxmlformats.org/officeDocument/2006/relationships/image" Target="../media/image8.png"/><Relationship Id="rId7" Type="http://schemas.openxmlformats.org/officeDocument/2006/relationships/image" Target="../media/image5.png"/><Relationship Id="rId8" Type="http://schemas.openxmlformats.org/officeDocument/2006/relationships/image" Target="../media/image3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3.png"/><Relationship Id="rId4" Type="http://schemas.openxmlformats.org/officeDocument/2006/relationships/image" Target="../media/image12.png"/><Relationship Id="rId5" Type="http://schemas.openxmlformats.org/officeDocument/2006/relationships/image" Target="../media/image21.png"/><Relationship Id="rId6" Type="http://schemas.openxmlformats.org/officeDocument/2006/relationships/image" Target="../media/image22.png"/><Relationship Id="rId7" Type="http://schemas.openxmlformats.org/officeDocument/2006/relationships/image" Target="../media/image1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23.png"/><Relationship Id="rId4" Type="http://schemas.openxmlformats.org/officeDocument/2006/relationships/image" Target="../media/image3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3.png"/><Relationship Id="rId4" Type="http://schemas.openxmlformats.org/officeDocument/2006/relationships/image" Target="../media/image24.png"/><Relationship Id="rId5" Type="http://schemas.openxmlformats.org/officeDocument/2006/relationships/image" Target="../media/image2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3.png"/><Relationship Id="rId4" Type="http://schemas.openxmlformats.org/officeDocument/2006/relationships/image" Target="../media/image2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3.png"/><Relationship Id="rId4" Type="http://schemas.openxmlformats.org/officeDocument/2006/relationships/image" Target="../media/image19.png"/><Relationship Id="rId5" Type="http://schemas.openxmlformats.org/officeDocument/2006/relationships/image" Target="../media/image2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3.png"/><Relationship Id="rId4" Type="http://schemas.openxmlformats.org/officeDocument/2006/relationships/image" Target="../media/image17.png"/><Relationship Id="rId5" Type="http://schemas.openxmlformats.org/officeDocument/2006/relationships/image" Target="../media/image15.png"/><Relationship Id="rId6" Type="http://schemas.openxmlformats.org/officeDocument/2006/relationships/image" Target="../media/image20.png"/><Relationship Id="rId7" Type="http://schemas.openxmlformats.org/officeDocument/2006/relationships/image" Target="../media/image3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3.png"/><Relationship Id="rId4" Type="http://schemas.openxmlformats.org/officeDocument/2006/relationships/image" Target="../media/image7.png"/><Relationship Id="rId9" Type="http://schemas.openxmlformats.org/officeDocument/2006/relationships/image" Target="../media/image35.png"/><Relationship Id="rId5" Type="http://schemas.openxmlformats.org/officeDocument/2006/relationships/image" Target="../media/image10.png"/><Relationship Id="rId6" Type="http://schemas.openxmlformats.org/officeDocument/2006/relationships/image" Target="../media/image8.png"/><Relationship Id="rId7" Type="http://schemas.openxmlformats.org/officeDocument/2006/relationships/image" Target="../media/image33.png"/><Relationship Id="rId8" Type="http://schemas.openxmlformats.org/officeDocument/2006/relationships/image" Target="../media/image3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3.png"/><Relationship Id="rId4" Type="http://schemas.openxmlformats.org/officeDocument/2006/relationships/image" Target="../media/image3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3.png"/><Relationship Id="rId4" Type="http://schemas.openxmlformats.org/officeDocument/2006/relationships/image" Target="../media/image3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3" name="Shape 83"/>
        <p:cNvGrpSpPr/>
        <p:nvPr/>
      </p:nvGrpSpPr>
      <p:grpSpPr>
        <a:xfrm>
          <a:off x="0" y="0"/>
          <a:ext cx="0" cy="0"/>
          <a:chOff x="0" y="0"/>
          <a:chExt cx="0" cy="0"/>
        </a:xfrm>
      </p:grpSpPr>
      <p:pic>
        <p:nvPicPr>
          <p:cNvPr descr="image.png" id="84" name="Google Shape;84;p13"/>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85" name="Google Shape;85;p13"/>
          <p:cNvSpPr/>
          <p:nvPr/>
        </p:nvSpPr>
        <p:spPr>
          <a:xfrm>
            <a:off x="9334500" y="-952500"/>
            <a:ext cx="3810000" cy="3810000"/>
          </a:xfrm>
          <a:prstGeom prst="roundRect">
            <a:avLst>
              <a:gd fmla="val 16667" name="adj"/>
            </a:avLst>
          </a:prstGeom>
          <a:solidFill>
            <a:srgbClr val="00606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6" name="Google Shape;86;p13"/>
          <p:cNvSpPr/>
          <p:nvPr/>
        </p:nvSpPr>
        <p:spPr>
          <a:xfrm>
            <a:off x="-476250" y="4476750"/>
            <a:ext cx="2857500" cy="2857500"/>
          </a:xfrm>
          <a:prstGeom prst="roundRect">
            <a:avLst>
              <a:gd fmla="val 16667" name="adj"/>
            </a:avLst>
          </a:prstGeom>
          <a:solidFill>
            <a:srgbClr val="4DD0E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7" name="Google Shape;87;p13"/>
          <p:cNvSpPr txBox="1"/>
          <p:nvPr/>
        </p:nvSpPr>
        <p:spPr>
          <a:xfrm>
            <a:off x="2160508" y="4138761"/>
            <a:ext cx="7870983" cy="754260"/>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None/>
            </a:pPr>
            <a:r>
              <a:rPr b="1" i="0" lang="en-US" sz="5400" u="none" cap="none" strike="noStrike">
                <a:solidFill>
                  <a:srgbClr val="0F172A"/>
                </a:solidFill>
                <a:latin typeface="Playfair Display"/>
                <a:ea typeface="Playfair Display"/>
                <a:cs typeface="Playfair Display"/>
                <a:sym typeface="Playfair Display"/>
              </a:rPr>
              <a:t>Hierarchical Clustering</a:t>
            </a:r>
            <a:endParaRPr/>
          </a:p>
        </p:txBody>
      </p:sp>
      <p:sp>
        <p:nvSpPr>
          <p:cNvPr id="88" name="Google Shape;88;p13"/>
          <p:cNvSpPr txBox="1"/>
          <p:nvPr/>
        </p:nvSpPr>
        <p:spPr>
          <a:xfrm>
            <a:off x="2286000" y="5083522"/>
            <a:ext cx="7620000" cy="731341"/>
          </a:xfrm>
          <a:prstGeom prst="rect">
            <a:avLst/>
          </a:prstGeom>
          <a:noFill/>
          <a:ln>
            <a:noFill/>
          </a:ln>
        </p:spPr>
        <p:txBody>
          <a:bodyPr anchorCtr="0" anchor="t" bIns="0" lIns="0" spcFirstLastPara="1" rIns="0" wrap="square" tIns="0">
            <a:spAutoFit/>
          </a:bodyPr>
          <a:lstStyle/>
          <a:p>
            <a:pPr indent="0" lvl="0" marL="0" marR="0" rtl="0" algn="ctr">
              <a:lnSpc>
                <a:spcPct val="159944"/>
              </a:lnSpc>
              <a:spcBef>
                <a:spcPts val="0"/>
              </a:spcBef>
              <a:spcAft>
                <a:spcPts val="0"/>
              </a:spcAft>
              <a:buNone/>
            </a:pPr>
            <a:r>
              <a:rPr b="0" i="0" lang="en-US" sz="1800" u="none" cap="none" strike="noStrike">
                <a:solidFill>
                  <a:srgbClr val="64748B"/>
                </a:solidFill>
                <a:latin typeface="Lato"/>
                <a:ea typeface="Lato"/>
                <a:cs typeface="Lato"/>
                <a:sym typeface="Lato"/>
              </a:rPr>
              <a:t>Memahami Algoritma, Cost Function, dan Hipotesis Function secara Mendalam</a:t>
            </a:r>
            <a:endParaRPr/>
          </a:p>
        </p:txBody>
      </p:sp>
      <p:pic>
        <p:nvPicPr>
          <p:cNvPr descr="image.png" id="89" name="Google Shape;89;p13"/>
          <p:cNvPicPr preferRelativeResize="0"/>
          <p:nvPr/>
        </p:nvPicPr>
        <p:blipFill rotWithShape="1">
          <a:blip r:embed="rId4">
            <a:alphaModFix/>
          </a:blip>
          <a:srcRect b="0" l="0" r="0" t="0"/>
          <a:stretch/>
        </p:blipFill>
        <p:spPr>
          <a:xfrm>
            <a:off x="571500" y="900261"/>
            <a:ext cx="11049000" cy="28575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3" name="Shape 93"/>
        <p:cNvGrpSpPr/>
        <p:nvPr/>
      </p:nvGrpSpPr>
      <p:grpSpPr>
        <a:xfrm>
          <a:off x="0" y="0"/>
          <a:ext cx="0" cy="0"/>
          <a:chOff x="0" y="0"/>
          <a:chExt cx="0" cy="0"/>
        </a:xfrm>
      </p:grpSpPr>
      <p:pic>
        <p:nvPicPr>
          <p:cNvPr descr="image.png" id="94" name="Google Shape;94;p14"/>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95" name="Google Shape;95;p14"/>
          <p:cNvPicPr preferRelativeResize="0"/>
          <p:nvPr/>
        </p:nvPicPr>
        <p:blipFill rotWithShape="1">
          <a:blip r:embed="rId4">
            <a:alphaModFix/>
          </a:blip>
          <a:srcRect b="0" l="0" r="0" t="0"/>
          <a:stretch/>
        </p:blipFill>
        <p:spPr>
          <a:xfrm>
            <a:off x="561025" y="2268000"/>
            <a:ext cx="5238750" cy="3810000"/>
          </a:xfrm>
          <a:prstGeom prst="rect">
            <a:avLst/>
          </a:prstGeom>
          <a:noFill/>
          <a:ln>
            <a:noFill/>
          </a:ln>
        </p:spPr>
      </p:pic>
      <p:pic>
        <p:nvPicPr>
          <p:cNvPr descr="image.png" id="96" name="Google Shape;96;p14"/>
          <p:cNvPicPr preferRelativeResize="0"/>
          <p:nvPr/>
        </p:nvPicPr>
        <p:blipFill rotWithShape="1">
          <a:blip r:embed="rId5">
            <a:alphaModFix/>
          </a:blip>
          <a:srcRect b="0" l="0" r="0" t="0"/>
          <a:stretch/>
        </p:blipFill>
        <p:spPr>
          <a:xfrm>
            <a:off x="6035450" y="2220200"/>
            <a:ext cx="5238750" cy="3905600"/>
          </a:xfrm>
          <a:prstGeom prst="rect">
            <a:avLst/>
          </a:prstGeom>
          <a:noFill/>
          <a:ln>
            <a:noFill/>
          </a:ln>
        </p:spPr>
      </p:pic>
      <p:sp>
        <p:nvSpPr>
          <p:cNvPr id="97" name="Google Shape;97;p14"/>
          <p:cNvSpPr/>
          <p:nvPr/>
        </p:nvSpPr>
        <p:spPr>
          <a:xfrm>
            <a:off x="7777150" y="-844075"/>
            <a:ext cx="4568700" cy="3810000"/>
          </a:xfrm>
          <a:prstGeom prst="roundRect">
            <a:avLst>
              <a:gd fmla="val 16667" name="adj"/>
            </a:avLst>
          </a:prstGeom>
          <a:solidFill>
            <a:srgbClr val="00606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98" name="Google Shape;98;p14"/>
          <p:cNvSpPr txBox="1"/>
          <p:nvPr/>
        </p:nvSpPr>
        <p:spPr>
          <a:xfrm>
            <a:off x="762000" y="571500"/>
            <a:ext cx="11401425" cy="5619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300" u="none" cap="none" strike="noStrike">
                <a:solidFill>
                  <a:srgbClr val="0F172A"/>
                </a:solidFill>
                <a:latin typeface="Playfair Display"/>
                <a:ea typeface="Playfair Display"/>
                <a:cs typeface="Playfair Display"/>
                <a:sym typeface="Playfair Display"/>
              </a:rPr>
              <a:t>Pengantar Hierarchical Clustering</a:t>
            </a:r>
            <a:endParaRPr/>
          </a:p>
        </p:txBody>
      </p:sp>
      <p:sp>
        <p:nvSpPr>
          <p:cNvPr id="99" name="Google Shape;99;p14"/>
          <p:cNvSpPr/>
          <p:nvPr/>
        </p:nvSpPr>
        <p:spPr>
          <a:xfrm>
            <a:off x="571500" y="571500"/>
            <a:ext cx="47625" cy="561975"/>
          </a:xfrm>
          <a:prstGeom prst="rect">
            <a:avLst/>
          </a:prstGeom>
          <a:solidFill>
            <a:srgbClr val="00ACC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00" name="Google Shape;100;p14"/>
          <p:cNvSpPr txBox="1"/>
          <p:nvPr/>
        </p:nvSpPr>
        <p:spPr>
          <a:xfrm>
            <a:off x="819150" y="3077616"/>
            <a:ext cx="4980622" cy="30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800" u="none" cap="none" strike="noStrike">
                <a:solidFill>
                  <a:srgbClr val="006064"/>
                </a:solidFill>
                <a:latin typeface="Playfair Display"/>
                <a:ea typeface="Playfair Display"/>
                <a:cs typeface="Playfair Display"/>
                <a:sym typeface="Playfair Display"/>
              </a:rPr>
              <a:t>Definisi Konseptual</a:t>
            </a:r>
            <a:endParaRPr/>
          </a:p>
        </p:txBody>
      </p:sp>
      <p:sp>
        <p:nvSpPr>
          <p:cNvPr id="101" name="Google Shape;101;p14"/>
          <p:cNvSpPr txBox="1"/>
          <p:nvPr/>
        </p:nvSpPr>
        <p:spPr>
          <a:xfrm>
            <a:off x="819150" y="3496716"/>
            <a:ext cx="4743600" cy="1995000"/>
          </a:xfrm>
          <a:prstGeom prst="rect">
            <a:avLst/>
          </a:prstGeom>
          <a:noFill/>
          <a:ln>
            <a:noFill/>
          </a:ln>
        </p:spPr>
        <p:txBody>
          <a:bodyPr anchorCtr="0" anchor="t" bIns="0" lIns="0" spcFirstLastPara="1" rIns="0" wrap="square" tIns="0">
            <a:spAutoFit/>
          </a:bodyPr>
          <a:lstStyle/>
          <a:p>
            <a:pPr indent="0" lvl="0" marL="0" marR="0" rtl="0" algn="just">
              <a:lnSpc>
                <a:spcPct val="160000"/>
              </a:lnSpc>
              <a:spcBef>
                <a:spcPts val="0"/>
              </a:spcBef>
              <a:spcAft>
                <a:spcPts val="0"/>
              </a:spcAft>
              <a:buNone/>
            </a:pPr>
            <a:r>
              <a:rPr b="0" i="0" lang="en-US" sz="1350" u="none" cap="none" strike="noStrike">
                <a:solidFill>
                  <a:srgbClr val="334155"/>
                </a:solidFill>
                <a:latin typeface="Lato"/>
                <a:ea typeface="Lato"/>
                <a:cs typeface="Lato"/>
                <a:sym typeface="Lato"/>
              </a:rPr>
              <a:t>Hierarchical Clustering adalah </a:t>
            </a:r>
            <a:r>
              <a:rPr lang="en-US" sz="1200">
                <a:solidFill>
                  <a:srgbClr val="05192D"/>
                </a:solidFill>
              </a:rPr>
              <a:t>algoritma unsupervised learning</a:t>
            </a:r>
            <a:r>
              <a:rPr lang="en-US" sz="1200">
                <a:solidFill>
                  <a:srgbClr val="05192D"/>
                </a:solidFill>
                <a:uFill>
                  <a:noFill/>
                </a:uFill>
                <a:hlinkClick r:id="rId6">
                  <a:extLst>
                    <a:ext uri="{A12FA001-AC4F-418D-AE19-62706E023703}">
                      <ahyp:hlinkClr val="tx"/>
                    </a:ext>
                  </a:extLst>
                </a:hlinkClick>
              </a:rPr>
              <a:t> </a:t>
            </a:r>
            <a:r>
              <a:rPr lang="en-US" sz="1200">
                <a:solidFill>
                  <a:srgbClr val="05192D"/>
                </a:solidFill>
              </a:rPr>
              <a:t> yang digunakan untuk mengelompokkan titik-titik data serupa ke dalam klaster. Algoritma ini membangun hierarki klaster bertingkat dengan menggabungkan klaster yang lebih kecil menjadi klaster yang lebih besar (aglomeratif) atau membagi klaster yang besar menjadi klaster yang lebih kecil (divisif). Hal ini menghasilkan struktur seperti pohon yang dikenal sebagai dendrogram.</a:t>
            </a:r>
            <a:endParaRPr/>
          </a:p>
        </p:txBody>
      </p:sp>
      <p:sp>
        <p:nvSpPr>
          <p:cNvPr id="102" name="Google Shape;102;p14"/>
          <p:cNvSpPr txBox="1"/>
          <p:nvPr/>
        </p:nvSpPr>
        <p:spPr>
          <a:xfrm>
            <a:off x="6283025" y="3032787"/>
            <a:ext cx="4980600" cy="277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800" u="none" cap="none" strike="noStrike">
                <a:solidFill>
                  <a:srgbClr val="006064"/>
                </a:solidFill>
                <a:latin typeface="Playfair Display"/>
                <a:ea typeface="Playfair Display"/>
                <a:cs typeface="Playfair Display"/>
                <a:sym typeface="Playfair Display"/>
              </a:rPr>
              <a:t>Output Dendrogram</a:t>
            </a:r>
            <a:endParaRPr/>
          </a:p>
        </p:txBody>
      </p:sp>
      <p:sp>
        <p:nvSpPr>
          <p:cNvPr id="103" name="Google Shape;103;p14"/>
          <p:cNvSpPr txBox="1"/>
          <p:nvPr/>
        </p:nvSpPr>
        <p:spPr>
          <a:xfrm>
            <a:off x="6283025" y="3376825"/>
            <a:ext cx="4743600" cy="2549100"/>
          </a:xfrm>
          <a:prstGeom prst="rect">
            <a:avLst/>
          </a:prstGeom>
          <a:noFill/>
          <a:ln>
            <a:noFill/>
          </a:ln>
        </p:spPr>
        <p:txBody>
          <a:bodyPr anchorCtr="0" anchor="t" bIns="0" lIns="0" spcFirstLastPara="1" rIns="0" wrap="square" tIns="0">
            <a:spAutoFit/>
          </a:bodyPr>
          <a:lstStyle/>
          <a:p>
            <a:pPr indent="0" lvl="0" marL="0" marR="0" rtl="0" algn="just">
              <a:lnSpc>
                <a:spcPct val="160000"/>
              </a:lnSpc>
              <a:spcBef>
                <a:spcPts val="0"/>
              </a:spcBef>
              <a:spcAft>
                <a:spcPts val="0"/>
              </a:spcAft>
              <a:buNone/>
            </a:pPr>
            <a:r>
              <a:rPr i="0" lang="en-US" sz="1200" u="none" cap="none" strike="noStrike">
                <a:solidFill>
                  <a:srgbClr val="334155"/>
                </a:solidFill>
              </a:rPr>
              <a:t>Hasil analisis ini divisualisasikan dalam bentuk struktur pohon yang disebut </a:t>
            </a:r>
            <a:r>
              <a:rPr b="1" i="0" lang="en-US" sz="1200" u="none" cap="none" strike="noStrike">
                <a:solidFill>
                  <a:srgbClr val="334155"/>
                </a:solidFill>
              </a:rPr>
              <a:t>Dendrogram</a:t>
            </a:r>
            <a:r>
              <a:rPr i="0" lang="en-US" sz="1200" u="none" cap="none" strike="noStrike">
                <a:solidFill>
                  <a:srgbClr val="334155"/>
                </a:solidFill>
              </a:rPr>
              <a:t>. </a:t>
            </a:r>
            <a:r>
              <a:rPr lang="en-US" sz="1200">
                <a:solidFill>
                  <a:srgbClr val="334155"/>
                </a:solidFill>
              </a:rPr>
              <a:t>Dendrogram bagaikan pohon keluarga untuk klaster. Dendrogram menunjukkan bagaimana titik data individual atau kelompok data bergabung. Bagian bawah menunjukkan setiap titik data sebagai kelompoknya sendiri, dan semakin ke atas, kelompok-kelompok yang serupa akan digabungkan. Semakin rendah titik penggabungan, semakin mirip kelompok-kelompok tersebut. Dendrogram membantu kita melihat bagaimana berbagai hal dikelompokkan selangkah demi selangkah.</a:t>
            </a:r>
            <a:endParaRPr sz="1200"/>
          </a:p>
        </p:txBody>
      </p:sp>
      <p:pic>
        <p:nvPicPr>
          <p:cNvPr descr="image.png" id="104" name="Google Shape;104;p14"/>
          <p:cNvPicPr preferRelativeResize="0"/>
          <p:nvPr/>
        </p:nvPicPr>
        <p:blipFill rotWithShape="1">
          <a:blip r:embed="rId7">
            <a:alphaModFix/>
          </a:blip>
          <a:srcRect b="0" l="0" r="0" t="0"/>
          <a:stretch/>
        </p:blipFill>
        <p:spPr>
          <a:xfrm>
            <a:off x="819150" y="2563266"/>
            <a:ext cx="390525" cy="342900"/>
          </a:xfrm>
          <a:prstGeom prst="rect">
            <a:avLst/>
          </a:prstGeom>
          <a:noFill/>
          <a:ln>
            <a:noFill/>
          </a:ln>
        </p:spPr>
      </p:pic>
      <p:pic>
        <p:nvPicPr>
          <p:cNvPr descr="image.png" id="105" name="Google Shape;105;p14"/>
          <p:cNvPicPr preferRelativeResize="0"/>
          <p:nvPr/>
        </p:nvPicPr>
        <p:blipFill rotWithShape="1">
          <a:blip r:embed="rId8">
            <a:alphaModFix/>
          </a:blip>
          <a:srcRect b="0" l="0" r="0" t="0"/>
          <a:stretch/>
        </p:blipFill>
        <p:spPr>
          <a:xfrm>
            <a:off x="6379250" y="2505562"/>
            <a:ext cx="390525" cy="342900"/>
          </a:xfrm>
          <a:prstGeom prst="rect">
            <a:avLst/>
          </a:prstGeom>
          <a:noFill/>
          <a:ln>
            <a:noFill/>
          </a:ln>
        </p:spPr>
      </p:pic>
      <p:pic>
        <p:nvPicPr>
          <p:cNvPr id="106" name="Google Shape;106;p14"/>
          <p:cNvPicPr preferRelativeResize="0"/>
          <p:nvPr/>
        </p:nvPicPr>
        <p:blipFill>
          <a:blip r:embed="rId9">
            <a:alphaModFix/>
          </a:blip>
          <a:stretch>
            <a:fillRect/>
          </a:stretch>
        </p:blipFill>
        <p:spPr>
          <a:xfrm>
            <a:off x="8096701" y="189076"/>
            <a:ext cx="4006000" cy="23742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0" name="Shape 110"/>
        <p:cNvGrpSpPr/>
        <p:nvPr/>
      </p:nvGrpSpPr>
      <p:grpSpPr>
        <a:xfrm>
          <a:off x="0" y="0"/>
          <a:ext cx="0" cy="0"/>
          <a:chOff x="0" y="0"/>
          <a:chExt cx="0" cy="0"/>
        </a:xfrm>
      </p:grpSpPr>
      <p:pic>
        <p:nvPicPr>
          <p:cNvPr descr="image.png" id="111" name="Google Shape;111;p15"/>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12" name="Google Shape;112;p15"/>
          <p:cNvSpPr txBox="1"/>
          <p:nvPr/>
        </p:nvSpPr>
        <p:spPr>
          <a:xfrm>
            <a:off x="442100" y="771900"/>
            <a:ext cx="8136300" cy="507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3300">
                <a:solidFill>
                  <a:srgbClr val="0F172A"/>
                </a:solidFill>
                <a:latin typeface="Playfair Display"/>
                <a:ea typeface="Playfair Display"/>
                <a:cs typeface="Playfair Display"/>
                <a:sym typeface="Playfair Display"/>
              </a:rPr>
              <a:t>Jenis-jenis Pengelompokan Hierarkis</a:t>
            </a:r>
            <a:endParaRPr/>
          </a:p>
        </p:txBody>
      </p:sp>
      <p:sp>
        <p:nvSpPr>
          <p:cNvPr id="113" name="Google Shape;113;p15"/>
          <p:cNvSpPr txBox="1"/>
          <p:nvPr/>
        </p:nvSpPr>
        <p:spPr>
          <a:xfrm>
            <a:off x="809625" y="2361396"/>
            <a:ext cx="95250" cy="2762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350" u="none" cap="none" strike="noStrike">
                <a:solidFill>
                  <a:srgbClr val="475569"/>
                </a:solidFill>
                <a:latin typeface="Lato"/>
                <a:ea typeface="Lato"/>
                <a:cs typeface="Lato"/>
                <a:sym typeface="Lato"/>
              </a:rPr>
              <a:t>•</a:t>
            </a:r>
            <a:endParaRPr/>
          </a:p>
        </p:txBody>
      </p:sp>
      <p:sp>
        <p:nvSpPr>
          <p:cNvPr id="114" name="Google Shape;114;p15"/>
          <p:cNvSpPr txBox="1"/>
          <p:nvPr/>
        </p:nvSpPr>
        <p:spPr>
          <a:xfrm>
            <a:off x="904875" y="2362348"/>
            <a:ext cx="4524300" cy="1537800"/>
          </a:xfrm>
          <a:prstGeom prst="rect">
            <a:avLst/>
          </a:prstGeom>
          <a:noFill/>
          <a:ln>
            <a:noFill/>
          </a:ln>
        </p:spPr>
        <p:txBody>
          <a:bodyPr anchorCtr="0" anchor="t" bIns="0" lIns="95250" spcFirstLastPara="1" rIns="0" wrap="square" tIns="0">
            <a:spAutoFit/>
          </a:bodyPr>
          <a:lstStyle/>
          <a:p>
            <a:pPr indent="0" lvl="0" marL="0" marR="0" rtl="0" algn="just">
              <a:lnSpc>
                <a:spcPct val="160000"/>
              </a:lnSpc>
              <a:spcBef>
                <a:spcPts val="0"/>
              </a:spcBef>
              <a:spcAft>
                <a:spcPts val="0"/>
              </a:spcAft>
              <a:buNone/>
            </a:pPr>
            <a:r>
              <a:rPr b="1" i="0" lang="en-US" sz="1350" u="none" cap="none" strike="noStrike">
                <a:solidFill>
                  <a:srgbClr val="006064"/>
                </a:solidFill>
                <a:latin typeface="Lato"/>
                <a:ea typeface="Lato"/>
                <a:cs typeface="Lato"/>
                <a:sym typeface="Lato"/>
              </a:rPr>
              <a:t>Agglomerative (Bottom-Up):</a:t>
            </a:r>
            <a:r>
              <a:rPr b="0" i="0" lang="en-US" sz="1350" u="none" cap="none" strike="noStrike">
                <a:solidFill>
                  <a:srgbClr val="475569"/>
                </a:solidFill>
                <a:latin typeface="Lato"/>
                <a:ea typeface="Lato"/>
                <a:cs typeface="Lato"/>
                <a:sym typeface="Lato"/>
              </a:rPr>
              <a:t> Ini adalah pendekatan yang paling umum digunakan. Algoritma memulai proses dengan menganggap setiap data sebagai cluster terpisah, kemudian secara iteratif menggabungkan pasangan cluster terdekat hingga hanya tersisa satu cluster tunggal.</a:t>
            </a:r>
            <a:endParaRPr/>
          </a:p>
        </p:txBody>
      </p:sp>
      <p:sp>
        <p:nvSpPr>
          <p:cNvPr id="115" name="Google Shape;115;p15"/>
          <p:cNvSpPr txBox="1"/>
          <p:nvPr/>
        </p:nvSpPr>
        <p:spPr>
          <a:xfrm>
            <a:off x="809625" y="3923347"/>
            <a:ext cx="95250" cy="2762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350" u="none" cap="none" strike="noStrike">
                <a:solidFill>
                  <a:srgbClr val="475569"/>
                </a:solidFill>
                <a:latin typeface="Lato"/>
                <a:ea typeface="Lato"/>
                <a:cs typeface="Lato"/>
                <a:sym typeface="Lato"/>
              </a:rPr>
              <a:t>•</a:t>
            </a:r>
            <a:endParaRPr/>
          </a:p>
        </p:txBody>
      </p:sp>
      <p:sp>
        <p:nvSpPr>
          <p:cNvPr id="116" name="Google Shape;116;p15"/>
          <p:cNvSpPr txBox="1"/>
          <p:nvPr/>
        </p:nvSpPr>
        <p:spPr>
          <a:xfrm>
            <a:off x="904875" y="3924300"/>
            <a:ext cx="4524300" cy="1537800"/>
          </a:xfrm>
          <a:prstGeom prst="rect">
            <a:avLst/>
          </a:prstGeom>
          <a:noFill/>
          <a:ln>
            <a:noFill/>
          </a:ln>
        </p:spPr>
        <p:txBody>
          <a:bodyPr anchorCtr="0" anchor="t" bIns="0" lIns="95250" spcFirstLastPara="1" rIns="0" wrap="square" tIns="0">
            <a:spAutoFit/>
          </a:bodyPr>
          <a:lstStyle/>
          <a:p>
            <a:pPr indent="0" lvl="0" marL="0" marR="0" rtl="0" algn="just">
              <a:lnSpc>
                <a:spcPct val="160000"/>
              </a:lnSpc>
              <a:spcBef>
                <a:spcPts val="0"/>
              </a:spcBef>
              <a:spcAft>
                <a:spcPts val="0"/>
              </a:spcAft>
              <a:buNone/>
            </a:pPr>
            <a:r>
              <a:rPr b="1" i="0" lang="en-US" sz="1350" u="none" cap="none" strike="noStrike">
                <a:solidFill>
                  <a:srgbClr val="006064"/>
                </a:solidFill>
                <a:latin typeface="Lato"/>
                <a:ea typeface="Lato"/>
                <a:cs typeface="Lato"/>
                <a:sym typeface="Lato"/>
              </a:rPr>
              <a:t>Divisive (Top-Down):</a:t>
            </a:r>
            <a:r>
              <a:rPr b="0" i="0" lang="en-US" sz="1350" u="none" cap="none" strike="noStrike">
                <a:solidFill>
                  <a:srgbClr val="475569"/>
                </a:solidFill>
                <a:latin typeface="Lato"/>
                <a:ea typeface="Lato"/>
                <a:cs typeface="Lato"/>
                <a:sym typeface="Lato"/>
              </a:rPr>
              <a:t> Pendekatan ini bekerja sebaliknya. Dimulai dengan satu cluster raksasa yang berisi seluruh dataset, algoritma kemudian memecah cluster tersebut secara rekursif menjadi bagian-bagian yang lebih kecil dan spesifik hingga tersisa cluster individu.</a:t>
            </a:r>
            <a:endParaRPr/>
          </a:p>
        </p:txBody>
      </p:sp>
      <p:pic>
        <p:nvPicPr>
          <p:cNvPr id="117" name="Google Shape;117;p15"/>
          <p:cNvPicPr preferRelativeResize="0"/>
          <p:nvPr/>
        </p:nvPicPr>
        <p:blipFill>
          <a:blip r:embed="rId4">
            <a:alphaModFix/>
          </a:blip>
          <a:stretch>
            <a:fillRect/>
          </a:stretch>
        </p:blipFill>
        <p:spPr>
          <a:xfrm>
            <a:off x="5726350" y="2073675"/>
            <a:ext cx="6095651" cy="271065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1" name="Shape 121"/>
        <p:cNvGrpSpPr/>
        <p:nvPr/>
      </p:nvGrpSpPr>
      <p:grpSpPr>
        <a:xfrm>
          <a:off x="0" y="0"/>
          <a:ext cx="0" cy="0"/>
          <a:chOff x="0" y="0"/>
          <a:chExt cx="0" cy="0"/>
        </a:xfrm>
      </p:grpSpPr>
      <p:pic>
        <p:nvPicPr>
          <p:cNvPr descr="image.png" id="122" name="Google Shape;122;p16"/>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23" name="Google Shape;123;p16"/>
          <p:cNvPicPr preferRelativeResize="0"/>
          <p:nvPr/>
        </p:nvPicPr>
        <p:blipFill rotWithShape="1">
          <a:blip r:embed="rId4">
            <a:alphaModFix/>
          </a:blip>
          <a:srcRect b="0" l="0" r="0" t="0"/>
          <a:stretch/>
        </p:blipFill>
        <p:spPr>
          <a:xfrm>
            <a:off x="571500" y="2267991"/>
            <a:ext cx="3524250" cy="3264991"/>
          </a:xfrm>
          <a:prstGeom prst="rect">
            <a:avLst/>
          </a:prstGeom>
          <a:noFill/>
          <a:ln>
            <a:noFill/>
          </a:ln>
        </p:spPr>
      </p:pic>
      <p:pic>
        <p:nvPicPr>
          <p:cNvPr descr="image.png" id="124" name="Google Shape;124;p16"/>
          <p:cNvPicPr preferRelativeResize="0"/>
          <p:nvPr/>
        </p:nvPicPr>
        <p:blipFill rotWithShape="1">
          <a:blip r:embed="rId5">
            <a:alphaModFix/>
          </a:blip>
          <a:srcRect b="0" l="0" r="0" t="0"/>
          <a:stretch/>
        </p:blipFill>
        <p:spPr>
          <a:xfrm>
            <a:off x="4333875" y="2267991"/>
            <a:ext cx="3524250" cy="3264991"/>
          </a:xfrm>
          <a:prstGeom prst="rect">
            <a:avLst/>
          </a:prstGeom>
          <a:noFill/>
          <a:ln>
            <a:noFill/>
          </a:ln>
        </p:spPr>
      </p:pic>
      <p:pic>
        <p:nvPicPr>
          <p:cNvPr descr="image.png" id="125" name="Google Shape;125;p16"/>
          <p:cNvPicPr preferRelativeResize="0"/>
          <p:nvPr/>
        </p:nvPicPr>
        <p:blipFill rotWithShape="1">
          <a:blip r:embed="rId6">
            <a:alphaModFix/>
          </a:blip>
          <a:srcRect b="0" l="0" r="0" t="0"/>
          <a:stretch/>
        </p:blipFill>
        <p:spPr>
          <a:xfrm>
            <a:off x="8096250" y="2267991"/>
            <a:ext cx="3524250" cy="3264991"/>
          </a:xfrm>
          <a:prstGeom prst="rect">
            <a:avLst/>
          </a:prstGeom>
          <a:noFill/>
          <a:ln>
            <a:noFill/>
          </a:ln>
        </p:spPr>
      </p:pic>
      <p:sp>
        <p:nvSpPr>
          <p:cNvPr id="126" name="Google Shape;126;p16"/>
          <p:cNvSpPr/>
          <p:nvPr/>
        </p:nvSpPr>
        <p:spPr>
          <a:xfrm>
            <a:off x="-476250" y="4476750"/>
            <a:ext cx="2857500" cy="2857500"/>
          </a:xfrm>
          <a:prstGeom prst="roundRect">
            <a:avLst>
              <a:gd fmla="val 16667" name="adj"/>
            </a:avLst>
          </a:prstGeom>
          <a:solidFill>
            <a:srgbClr val="4DD0E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27" name="Google Shape;127;p16"/>
          <p:cNvSpPr txBox="1"/>
          <p:nvPr/>
        </p:nvSpPr>
        <p:spPr>
          <a:xfrm>
            <a:off x="762000" y="571500"/>
            <a:ext cx="11401425" cy="5619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300" u="none" cap="none" strike="noStrike">
                <a:solidFill>
                  <a:srgbClr val="0F172A"/>
                </a:solidFill>
                <a:latin typeface="Playfair Display"/>
                <a:ea typeface="Playfair Display"/>
                <a:cs typeface="Playfair Display"/>
                <a:sym typeface="Playfair Display"/>
              </a:rPr>
              <a:t>Tahapan Algoritma Agglomerative</a:t>
            </a:r>
            <a:endParaRPr/>
          </a:p>
        </p:txBody>
      </p:sp>
      <p:sp>
        <p:nvSpPr>
          <p:cNvPr id="128" name="Google Shape;128;p16"/>
          <p:cNvSpPr/>
          <p:nvPr/>
        </p:nvSpPr>
        <p:spPr>
          <a:xfrm>
            <a:off x="571500" y="571500"/>
            <a:ext cx="47625" cy="561975"/>
          </a:xfrm>
          <a:prstGeom prst="rect">
            <a:avLst/>
          </a:prstGeom>
          <a:solidFill>
            <a:srgbClr val="00ACC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29" name="Google Shape;129;p16"/>
          <p:cNvSpPr txBox="1"/>
          <p:nvPr/>
        </p:nvSpPr>
        <p:spPr>
          <a:xfrm>
            <a:off x="819150" y="3077616"/>
            <a:ext cx="3180397" cy="30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800" u="none" cap="none" strike="noStrike">
                <a:solidFill>
                  <a:srgbClr val="006064"/>
                </a:solidFill>
                <a:latin typeface="Playfair Display"/>
                <a:ea typeface="Playfair Display"/>
                <a:cs typeface="Playfair Display"/>
                <a:sym typeface="Playfair Display"/>
              </a:rPr>
              <a:t>Langkah Inisialisasi</a:t>
            </a:r>
            <a:endParaRPr/>
          </a:p>
        </p:txBody>
      </p:sp>
      <p:sp>
        <p:nvSpPr>
          <p:cNvPr id="130" name="Google Shape;130;p16"/>
          <p:cNvSpPr txBox="1"/>
          <p:nvPr/>
        </p:nvSpPr>
        <p:spPr>
          <a:xfrm>
            <a:off x="819150" y="3496716"/>
            <a:ext cx="3029100" cy="1870200"/>
          </a:xfrm>
          <a:prstGeom prst="rect">
            <a:avLst/>
          </a:prstGeom>
          <a:noFill/>
          <a:ln>
            <a:noFill/>
          </a:ln>
        </p:spPr>
        <p:txBody>
          <a:bodyPr anchorCtr="0" anchor="t" bIns="0" lIns="0" spcFirstLastPara="1" rIns="0" wrap="square" tIns="0">
            <a:spAutoFit/>
          </a:bodyPr>
          <a:lstStyle/>
          <a:p>
            <a:pPr indent="0" lvl="0" marL="0" marR="0" rtl="0" algn="just">
              <a:lnSpc>
                <a:spcPct val="160000"/>
              </a:lnSpc>
              <a:spcBef>
                <a:spcPts val="0"/>
              </a:spcBef>
              <a:spcAft>
                <a:spcPts val="0"/>
              </a:spcAft>
              <a:buNone/>
            </a:pPr>
            <a:r>
              <a:rPr b="0" i="0" lang="en-US" sz="1350" u="none" cap="none" strike="noStrike">
                <a:solidFill>
                  <a:srgbClr val="334155"/>
                </a:solidFill>
                <a:latin typeface="Lato"/>
                <a:ea typeface="Lato"/>
                <a:cs typeface="Lato"/>
                <a:sym typeface="Lato"/>
              </a:rPr>
              <a:t>Langkah pertama adalah menetapkan setiap titik data (N) sebagai cluster tersendiri. Kemudian, menghitung matriks jarak (distance matrix) yang mencatat jarak antara setiap pasangan cluster yang ada.</a:t>
            </a:r>
            <a:endParaRPr/>
          </a:p>
        </p:txBody>
      </p:sp>
      <p:sp>
        <p:nvSpPr>
          <p:cNvPr id="131" name="Google Shape;131;p16"/>
          <p:cNvSpPr txBox="1"/>
          <p:nvPr/>
        </p:nvSpPr>
        <p:spPr>
          <a:xfrm>
            <a:off x="4581525" y="3077616"/>
            <a:ext cx="3180397" cy="30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800" u="none" cap="none" strike="noStrike">
                <a:solidFill>
                  <a:srgbClr val="006064"/>
                </a:solidFill>
                <a:latin typeface="Playfair Display"/>
                <a:ea typeface="Playfair Display"/>
                <a:cs typeface="Playfair Display"/>
                <a:sym typeface="Playfair Display"/>
              </a:rPr>
              <a:t>Proses Penggabungan</a:t>
            </a:r>
            <a:endParaRPr/>
          </a:p>
        </p:txBody>
      </p:sp>
      <p:sp>
        <p:nvSpPr>
          <p:cNvPr id="132" name="Google Shape;132;p16"/>
          <p:cNvSpPr txBox="1"/>
          <p:nvPr/>
        </p:nvSpPr>
        <p:spPr>
          <a:xfrm>
            <a:off x="4581525" y="3496716"/>
            <a:ext cx="3029100" cy="1870200"/>
          </a:xfrm>
          <a:prstGeom prst="rect">
            <a:avLst/>
          </a:prstGeom>
          <a:noFill/>
          <a:ln>
            <a:noFill/>
          </a:ln>
        </p:spPr>
        <p:txBody>
          <a:bodyPr anchorCtr="0" anchor="t" bIns="0" lIns="0" spcFirstLastPara="1" rIns="0" wrap="square" tIns="0">
            <a:spAutoFit/>
          </a:bodyPr>
          <a:lstStyle/>
          <a:p>
            <a:pPr indent="0" lvl="0" marL="0" marR="0" rtl="0" algn="just">
              <a:lnSpc>
                <a:spcPct val="160000"/>
              </a:lnSpc>
              <a:spcBef>
                <a:spcPts val="0"/>
              </a:spcBef>
              <a:spcAft>
                <a:spcPts val="0"/>
              </a:spcAft>
              <a:buNone/>
            </a:pPr>
            <a:r>
              <a:rPr b="0" i="0" lang="en-US" sz="1350" u="none" cap="none" strike="noStrike">
                <a:solidFill>
                  <a:srgbClr val="334155"/>
                </a:solidFill>
                <a:latin typeface="Lato"/>
                <a:ea typeface="Lato"/>
                <a:cs typeface="Lato"/>
                <a:sym typeface="Lato"/>
              </a:rPr>
              <a:t>Algoritma mencari nilai minimum dalam matriks jarak untuk menemukan dua cluster yang paling mirip. Kedua cluster ini kemudian digabungkan (merge) menjadi satu cluster baru yang lebih besar.</a:t>
            </a:r>
            <a:endParaRPr/>
          </a:p>
        </p:txBody>
      </p:sp>
      <p:sp>
        <p:nvSpPr>
          <p:cNvPr id="133" name="Google Shape;133;p16"/>
          <p:cNvSpPr txBox="1"/>
          <p:nvPr/>
        </p:nvSpPr>
        <p:spPr>
          <a:xfrm>
            <a:off x="8343900" y="3077616"/>
            <a:ext cx="3180397" cy="30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800" u="none" cap="none" strike="noStrike">
                <a:solidFill>
                  <a:srgbClr val="006064"/>
                </a:solidFill>
                <a:latin typeface="Playfair Display"/>
                <a:ea typeface="Playfair Display"/>
                <a:cs typeface="Playfair Display"/>
                <a:sym typeface="Playfair Display"/>
              </a:rPr>
              <a:t>Pembaruan Iteratif</a:t>
            </a:r>
            <a:endParaRPr/>
          </a:p>
        </p:txBody>
      </p:sp>
      <p:sp>
        <p:nvSpPr>
          <p:cNvPr id="134" name="Google Shape;134;p16"/>
          <p:cNvSpPr txBox="1"/>
          <p:nvPr/>
        </p:nvSpPr>
        <p:spPr>
          <a:xfrm>
            <a:off x="8343900" y="3496716"/>
            <a:ext cx="3029100" cy="1870200"/>
          </a:xfrm>
          <a:prstGeom prst="rect">
            <a:avLst/>
          </a:prstGeom>
          <a:noFill/>
          <a:ln>
            <a:noFill/>
          </a:ln>
        </p:spPr>
        <p:txBody>
          <a:bodyPr anchorCtr="0" anchor="t" bIns="0" lIns="0" spcFirstLastPara="1" rIns="0" wrap="square" tIns="0">
            <a:spAutoFit/>
          </a:bodyPr>
          <a:lstStyle/>
          <a:p>
            <a:pPr indent="0" lvl="0" marL="0" marR="0" rtl="0" algn="just">
              <a:lnSpc>
                <a:spcPct val="160000"/>
              </a:lnSpc>
              <a:spcBef>
                <a:spcPts val="0"/>
              </a:spcBef>
              <a:spcAft>
                <a:spcPts val="0"/>
              </a:spcAft>
              <a:buNone/>
            </a:pPr>
            <a:r>
              <a:rPr b="0" i="0" lang="en-US" sz="1350" u="none" cap="none" strike="noStrike">
                <a:solidFill>
                  <a:srgbClr val="334155"/>
                </a:solidFill>
                <a:latin typeface="Lato"/>
                <a:ea typeface="Lato"/>
                <a:cs typeface="Lato"/>
                <a:sym typeface="Lato"/>
              </a:rPr>
              <a:t>Setelah penggabungan, matriks jarak diperbarui untuk mencerminkan jarak cluster baru terhadap cluster lainnya. Proses ini diulang terus-menerus hingga semua data tergabung dalam satu cluster.</a:t>
            </a:r>
            <a:endParaRPr/>
          </a:p>
        </p:txBody>
      </p:sp>
      <p:pic>
        <p:nvPicPr>
          <p:cNvPr descr="image.png" id="135" name="Google Shape;135;p16"/>
          <p:cNvPicPr preferRelativeResize="0"/>
          <p:nvPr/>
        </p:nvPicPr>
        <p:blipFill rotWithShape="1">
          <a:blip r:embed="rId7">
            <a:alphaModFix/>
          </a:blip>
          <a:srcRect b="0" l="0" r="0" t="0"/>
          <a:stretch/>
        </p:blipFill>
        <p:spPr>
          <a:xfrm>
            <a:off x="819150" y="2563266"/>
            <a:ext cx="171450" cy="342900"/>
          </a:xfrm>
          <a:prstGeom prst="rect">
            <a:avLst/>
          </a:prstGeom>
          <a:noFill/>
          <a:ln>
            <a:noFill/>
          </a:ln>
        </p:spPr>
      </p:pic>
      <p:pic>
        <p:nvPicPr>
          <p:cNvPr descr="image.png" id="136" name="Google Shape;136;p16"/>
          <p:cNvPicPr preferRelativeResize="0"/>
          <p:nvPr/>
        </p:nvPicPr>
        <p:blipFill rotWithShape="1">
          <a:blip r:embed="rId8">
            <a:alphaModFix/>
          </a:blip>
          <a:srcRect b="0" l="0" r="0" t="0"/>
          <a:stretch/>
        </p:blipFill>
        <p:spPr>
          <a:xfrm>
            <a:off x="4581525" y="2563266"/>
            <a:ext cx="219075" cy="342900"/>
          </a:xfrm>
          <a:prstGeom prst="rect">
            <a:avLst/>
          </a:prstGeom>
          <a:noFill/>
          <a:ln>
            <a:noFill/>
          </a:ln>
        </p:spPr>
      </p:pic>
      <p:pic>
        <p:nvPicPr>
          <p:cNvPr descr="image.png" id="137" name="Google Shape;137;p16"/>
          <p:cNvPicPr preferRelativeResize="0"/>
          <p:nvPr/>
        </p:nvPicPr>
        <p:blipFill rotWithShape="1">
          <a:blip r:embed="rId9">
            <a:alphaModFix/>
          </a:blip>
          <a:srcRect b="0" l="0" r="0" t="0"/>
          <a:stretch/>
        </p:blipFill>
        <p:spPr>
          <a:xfrm>
            <a:off x="8343900" y="2563266"/>
            <a:ext cx="219075" cy="3429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1" name="Shape 141"/>
        <p:cNvGrpSpPr/>
        <p:nvPr/>
      </p:nvGrpSpPr>
      <p:grpSpPr>
        <a:xfrm>
          <a:off x="0" y="0"/>
          <a:ext cx="0" cy="0"/>
          <a:chOff x="0" y="0"/>
          <a:chExt cx="0" cy="0"/>
        </a:xfrm>
      </p:grpSpPr>
      <p:pic>
        <p:nvPicPr>
          <p:cNvPr descr="image.png" id="142" name="Google Shape;142;p17"/>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43" name="Google Shape;143;p17"/>
          <p:cNvSpPr txBox="1"/>
          <p:nvPr/>
        </p:nvSpPr>
        <p:spPr>
          <a:xfrm>
            <a:off x="762000" y="571500"/>
            <a:ext cx="11401500" cy="507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US" sz="3300">
                <a:solidFill>
                  <a:srgbClr val="0F172A"/>
                </a:solidFill>
                <a:latin typeface="Playfair Display"/>
                <a:ea typeface="Playfair Display"/>
                <a:cs typeface="Playfair Display"/>
                <a:sym typeface="Playfair Display"/>
              </a:rPr>
              <a:t>Metrik Dasar &amp; Contoh Perhitungan</a:t>
            </a:r>
            <a:endParaRPr b="1" sz="3300">
              <a:solidFill>
                <a:srgbClr val="0F172A"/>
              </a:solidFill>
              <a:latin typeface="Playfair Display"/>
              <a:ea typeface="Playfair Display"/>
              <a:cs typeface="Playfair Display"/>
              <a:sym typeface="Playfair Display"/>
            </a:endParaRPr>
          </a:p>
        </p:txBody>
      </p:sp>
      <p:sp>
        <p:nvSpPr>
          <p:cNvPr id="144" name="Google Shape;144;p17"/>
          <p:cNvSpPr/>
          <p:nvPr/>
        </p:nvSpPr>
        <p:spPr>
          <a:xfrm>
            <a:off x="571500" y="571500"/>
            <a:ext cx="47700" cy="561900"/>
          </a:xfrm>
          <a:prstGeom prst="rect">
            <a:avLst/>
          </a:prstGeom>
          <a:solidFill>
            <a:srgbClr val="00ACC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45" name="Google Shape;145;p17"/>
          <p:cNvSpPr txBox="1"/>
          <p:nvPr/>
        </p:nvSpPr>
        <p:spPr>
          <a:xfrm>
            <a:off x="868950" y="1600425"/>
            <a:ext cx="30000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1800">
                <a:solidFill>
                  <a:srgbClr val="006064"/>
                </a:solidFill>
                <a:latin typeface="Playfair Display"/>
                <a:ea typeface="Playfair Display"/>
                <a:cs typeface="Playfair Display"/>
                <a:sym typeface="Playfair Display"/>
              </a:rPr>
              <a:t>1. Euclidean Distance</a:t>
            </a:r>
            <a:endParaRPr>
              <a:solidFill>
                <a:schemeClr val="dk1"/>
              </a:solidFill>
            </a:endParaRPr>
          </a:p>
        </p:txBody>
      </p:sp>
      <p:sp>
        <p:nvSpPr>
          <p:cNvPr id="146" name="Google Shape;146;p17"/>
          <p:cNvSpPr txBox="1"/>
          <p:nvPr/>
        </p:nvSpPr>
        <p:spPr>
          <a:xfrm>
            <a:off x="798800" y="2062125"/>
            <a:ext cx="5082900" cy="2196000"/>
          </a:xfrm>
          <a:prstGeom prst="rect">
            <a:avLst/>
          </a:prstGeom>
          <a:noFill/>
          <a:ln>
            <a:noFill/>
          </a:ln>
        </p:spPr>
        <p:txBody>
          <a:bodyPr anchorCtr="0" anchor="t" bIns="91425" lIns="91425" spcFirstLastPara="1" rIns="91425" wrap="square" tIns="91425">
            <a:spAutoFit/>
          </a:bodyPr>
          <a:lstStyle/>
          <a:p>
            <a:pPr indent="0" lvl="0" marL="0" rtl="0" algn="just">
              <a:lnSpc>
                <a:spcPct val="160000"/>
              </a:lnSpc>
              <a:spcBef>
                <a:spcPts val="0"/>
              </a:spcBef>
              <a:spcAft>
                <a:spcPts val="0"/>
              </a:spcAft>
              <a:buNone/>
            </a:pPr>
            <a:r>
              <a:rPr lang="en-US" sz="1350">
                <a:solidFill>
                  <a:srgbClr val="334155"/>
                </a:solidFill>
                <a:highlight>
                  <a:srgbClr val="FFFFFF"/>
                </a:highlight>
                <a:latin typeface="Lato"/>
                <a:ea typeface="Lato"/>
                <a:cs typeface="Lato"/>
                <a:sym typeface="Lato"/>
              </a:rPr>
              <a:t>Metode ini adalah cara paling intuitif untuk mengukur jarak garis lurus ("as the crow flies") antara dua titik. Berasal dari prinsip Teorema Pythagoras, Euclidean sangat standar untuk data geometri kontinu, namun sensitif terhadap perbedaan skala (scale-dependent).</a:t>
            </a:r>
            <a:endParaRPr sz="1350">
              <a:solidFill>
                <a:srgbClr val="334155"/>
              </a:solidFill>
              <a:highlight>
                <a:srgbClr val="FFFFFF"/>
              </a:highlight>
              <a:latin typeface="Lato"/>
              <a:ea typeface="Lato"/>
              <a:cs typeface="Lato"/>
              <a:sym typeface="Lato"/>
            </a:endParaRPr>
          </a:p>
          <a:p>
            <a:pPr indent="0" lvl="0" marL="0" rtl="0" algn="l">
              <a:lnSpc>
                <a:spcPct val="160000"/>
              </a:lnSpc>
              <a:spcBef>
                <a:spcPts val="1100"/>
              </a:spcBef>
              <a:spcAft>
                <a:spcPts val="1100"/>
              </a:spcAft>
              <a:buNone/>
            </a:pPr>
            <a:r>
              <a:t/>
            </a:r>
            <a:endParaRPr sz="1350">
              <a:solidFill>
                <a:srgbClr val="334155"/>
              </a:solidFill>
              <a:highlight>
                <a:srgbClr val="FFFFFF"/>
              </a:highlight>
              <a:latin typeface="Lato"/>
              <a:ea typeface="Lato"/>
              <a:cs typeface="Lato"/>
              <a:sym typeface="Lato"/>
            </a:endParaRPr>
          </a:p>
        </p:txBody>
      </p:sp>
      <p:pic>
        <p:nvPicPr>
          <p:cNvPr descr="image.png" id="147" name="Google Shape;147;p17"/>
          <p:cNvPicPr preferRelativeResize="0"/>
          <p:nvPr/>
        </p:nvPicPr>
        <p:blipFill rotWithShape="1">
          <a:blip r:embed="rId4">
            <a:alphaModFix/>
          </a:blip>
          <a:srcRect b="0" l="0" r="0" t="0"/>
          <a:stretch/>
        </p:blipFill>
        <p:spPr>
          <a:xfrm>
            <a:off x="798800" y="4114800"/>
            <a:ext cx="4942600" cy="731500"/>
          </a:xfrm>
          <a:prstGeom prst="rect">
            <a:avLst/>
          </a:prstGeom>
          <a:noFill/>
          <a:ln>
            <a:noFill/>
          </a:ln>
        </p:spPr>
      </p:pic>
      <p:pic>
        <p:nvPicPr>
          <p:cNvPr descr="image.png" id="148" name="Google Shape;148;p17"/>
          <p:cNvPicPr preferRelativeResize="0"/>
          <p:nvPr/>
        </p:nvPicPr>
        <p:blipFill rotWithShape="1">
          <a:blip r:embed="rId5">
            <a:alphaModFix/>
          </a:blip>
          <a:srcRect b="0" l="0" r="7834" t="0"/>
          <a:stretch/>
        </p:blipFill>
        <p:spPr>
          <a:xfrm>
            <a:off x="868950" y="4960975"/>
            <a:ext cx="4872450" cy="1314450"/>
          </a:xfrm>
          <a:prstGeom prst="rect">
            <a:avLst/>
          </a:prstGeom>
          <a:noFill/>
          <a:ln>
            <a:noFill/>
          </a:ln>
        </p:spPr>
      </p:pic>
      <p:sp>
        <p:nvSpPr>
          <p:cNvPr id="149" name="Google Shape;149;p17"/>
          <p:cNvSpPr txBox="1"/>
          <p:nvPr/>
        </p:nvSpPr>
        <p:spPr>
          <a:xfrm>
            <a:off x="1002650" y="4960975"/>
            <a:ext cx="30000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1200">
                <a:solidFill>
                  <a:srgbClr val="00695C"/>
                </a:solidFill>
                <a:latin typeface="Lato"/>
                <a:ea typeface="Lato"/>
                <a:cs typeface="Lato"/>
                <a:sym typeface="Lato"/>
              </a:rPr>
              <a:t>Contoh Titik A(1, 2) dan B(4, 6):</a:t>
            </a:r>
            <a:endParaRPr>
              <a:solidFill>
                <a:schemeClr val="dk1"/>
              </a:solidFill>
            </a:endParaRPr>
          </a:p>
        </p:txBody>
      </p:sp>
      <p:sp>
        <p:nvSpPr>
          <p:cNvPr id="150" name="Google Shape;150;p17"/>
          <p:cNvSpPr txBox="1"/>
          <p:nvPr/>
        </p:nvSpPr>
        <p:spPr>
          <a:xfrm>
            <a:off x="962375" y="5843300"/>
            <a:ext cx="3000000" cy="369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400"/>
              </a:spcAft>
              <a:buNone/>
            </a:pPr>
            <a:r>
              <a:rPr b="1" lang="en-US" sz="1200">
                <a:solidFill>
                  <a:srgbClr val="00695C"/>
                </a:solidFill>
                <a:latin typeface="Lato"/>
                <a:ea typeface="Lato"/>
                <a:cs typeface="Lato"/>
                <a:sym typeface="Lato"/>
              </a:rPr>
              <a:t>5</a:t>
            </a:r>
            <a:endParaRPr b="1" sz="1200">
              <a:solidFill>
                <a:srgbClr val="00695C"/>
              </a:solidFill>
              <a:latin typeface="Lato"/>
              <a:ea typeface="Lato"/>
              <a:cs typeface="Lato"/>
              <a:sym typeface="Lato"/>
            </a:endParaRPr>
          </a:p>
        </p:txBody>
      </p:sp>
      <p:sp>
        <p:nvSpPr>
          <p:cNvPr id="151" name="Google Shape;151;p17"/>
          <p:cNvSpPr txBox="1"/>
          <p:nvPr/>
        </p:nvSpPr>
        <p:spPr>
          <a:xfrm>
            <a:off x="6789050" y="1600425"/>
            <a:ext cx="30000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1800">
                <a:solidFill>
                  <a:srgbClr val="006064"/>
                </a:solidFill>
                <a:latin typeface="Playfair Display"/>
                <a:ea typeface="Playfair Display"/>
                <a:cs typeface="Playfair Display"/>
                <a:sym typeface="Playfair Display"/>
              </a:rPr>
              <a:t>2. Manhattan Distance</a:t>
            </a:r>
            <a:endParaRPr>
              <a:solidFill>
                <a:schemeClr val="dk1"/>
              </a:solidFill>
            </a:endParaRPr>
          </a:p>
        </p:txBody>
      </p:sp>
      <p:sp>
        <p:nvSpPr>
          <p:cNvPr id="152" name="Google Shape;152;p17"/>
          <p:cNvSpPr txBox="1"/>
          <p:nvPr/>
        </p:nvSpPr>
        <p:spPr>
          <a:xfrm>
            <a:off x="6789050" y="1981863"/>
            <a:ext cx="4422900" cy="2528400"/>
          </a:xfrm>
          <a:prstGeom prst="rect">
            <a:avLst/>
          </a:prstGeom>
          <a:noFill/>
          <a:ln>
            <a:noFill/>
          </a:ln>
        </p:spPr>
        <p:txBody>
          <a:bodyPr anchorCtr="0" anchor="t" bIns="91425" lIns="91425" spcFirstLastPara="1" rIns="91425" wrap="square" tIns="91425">
            <a:spAutoFit/>
          </a:bodyPr>
          <a:lstStyle/>
          <a:p>
            <a:pPr indent="0" lvl="0" marL="0" rtl="0" algn="just">
              <a:lnSpc>
                <a:spcPct val="160000"/>
              </a:lnSpc>
              <a:spcBef>
                <a:spcPts val="0"/>
              </a:spcBef>
              <a:spcAft>
                <a:spcPts val="0"/>
              </a:spcAft>
              <a:buClr>
                <a:schemeClr val="dk1"/>
              </a:buClr>
              <a:buSzPts val="1100"/>
              <a:buFont typeface="Arial"/>
              <a:buNone/>
            </a:pPr>
            <a:r>
              <a:rPr lang="en-US" sz="1350">
                <a:solidFill>
                  <a:srgbClr val="334155"/>
                </a:solidFill>
                <a:highlight>
                  <a:srgbClr val="FFFFFF"/>
                </a:highlight>
                <a:latin typeface="Lato"/>
                <a:ea typeface="Lato"/>
                <a:cs typeface="Lato"/>
                <a:sym typeface="Lato"/>
              </a:rPr>
              <a:t>Dikenal juga sebagai "Taxicab Geometry", metrik ini mengukur jarak dengan menyusuri sumbu grid (siku-siku), seperti taksi di blok kota yang tidak bisa menembus gedung. Ini dihitung dari jumlah selisih absolut koordinat dan lebih tangguh (robust) terhadap outlier.</a:t>
            </a:r>
            <a:endParaRPr sz="1350">
              <a:solidFill>
                <a:srgbClr val="334155"/>
              </a:solidFill>
              <a:highlight>
                <a:srgbClr val="FFFFFF"/>
              </a:highlight>
              <a:latin typeface="Lato"/>
              <a:ea typeface="Lato"/>
              <a:cs typeface="Lato"/>
              <a:sym typeface="Lato"/>
            </a:endParaRPr>
          </a:p>
          <a:p>
            <a:pPr indent="0" lvl="0" marL="0" rtl="0" algn="l">
              <a:lnSpc>
                <a:spcPct val="160000"/>
              </a:lnSpc>
              <a:spcBef>
                <a:spcPts val="1100"/>
              </a:spcBef>
              <a:spcAft>
                <a:spcPts val="0"/>
              </a:spcAft>
              <a:buNone/>
            </a:pPr>
            <a:r>
              <a:t/>
            </a:r>
            <a:endParaRPr sz="1350">
              <a:solidFill>
                <a:srgbClr val="334155"/>
              </a:solidFill>
              <a:latin typeface="Lato"/>
              <a:ea typeface="Lato"/>
              <a:cs typeface="Lato"/>
              <a:sym typeface="Lato"/>
            </a:endParaRPr>
          </a:p>
        </p:txBody>
      </p:sp>
      <p:pic>
        <p:nvPicPr>
          <p:cNvPr descr="image.png" id="153" name="Google Shape;153;p17"/>
          <p:cNvPicPr preferRelativeResize="0"/>
          <p:nvPr/>
        </p:nvPicPr>
        <p:blipFill rotWithShape="1">
          <a:blip r:embed="rId6">
            <a:alphaModFix/>
          </a:blip>
          <a:srcRect b="0" l="0" r="0" t="0"/>
          <a:stretch/>
        </p:blipFill>
        <p:spPr>
          <a:xfrm>
            <a:off x="6789050" y="4094800"/>
            <a:ext cx="4577800" cy="652475"/>
          </a:xfrm>
          <a:prstGeom prst="rect">
            <a:avLst/>
          </a:prstGeom>
          <a:noFill/>
          <a:ln>
            <a:noFill/>
          </a:ln>
        </p:spPr>
      </p:pic>
      <p:pic>
        <p:nvPicPr>
          <p:cNvPr descr="image.png" id="154" name="Google Shape;154;p17"/>
          <p:cNvPicPr preferRelativeResize="0"/>
          <p:nvPr/>
        </p:nvPicPr>
        <p:blipFill rotWithShape="1">
          <a:blip r:embed="rId7">
            <a:alphaModFix/>
          </a:blip>
          <a:srcRect b="0" l="0" r="12724" t="0"/>
          <a:stretch/>
        </p:blipFill>
        <p:spPr>
          <a:xfrm>
            <a:off x="6789050" y="4959475"/>
            <a:ext cx="4577800" cy="1285875"/>
          </a:xfrm>
          <a:prstGeom prst="rect">
            <a:avLst/>
          </a:prstGeom>
          <a:noFill/>
          <a:ln>
            <a:noFill/>
          </a:ln>
        </p:spPr>
      </p:pic>
      <p:sp>
        <p:nvSpPr>
          <p:cNvPr id="155" name="Google Shape;155;p17"/>
          <p:cNvSpPr txBox="1"/>
          <p:nvPr/>
        </p:nvSpPr>
        <p:spPr>
          <a:xfrm>
            <a:off x="6860900" y="4959475"/>
            <a:ext cx="30000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1200">
                <a:solidFill>
                  <a:srgbClr val="00695C"/>
                </a:solidFill>
                <a:latin typeface="Lato"/>
                <a:ea typeface="Lato"/>
                <a:cs typeface="Lato"/>
                <a:sym typeface="Lato"/>
              </a:rPr>
              <a:t>Contoh Titik A(1, 2) dan B(4, 6):</a:t>
            </a:r>
            <a:endParaRPr/>
          </a:p>
        </p:txBody>
      </p:sp>
      <p:sp>
        <p:nvSpPr>
          <p:cNvPr id="156" name="Google Shape;156;p17"/>
          <p:cNvSpPr txBox="1"/>
          <p:nvPr/>
        </p:nvSpPr>
        <p:spPr>
          <a:xfrm>
            <a:off x="6898275" y="5826425"/>
            <a:ext cx="3000000" cy="369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400"/>
              </a:spcAft>
              <a:buNone/>
            </a:pPr>
            <a:r>
              <a:rPr b="1" lang="en-US" sz="1200">
                <a:solidFill>
                  <a:srgbClr val="00695C"/>
                </a:solidFill>
                <a:latin typeface="Lato"/>
                <a:ea typeface="Lato"/>
                <a:cs typeface="Lato"/>
                <a:sym typeface="Lato"/>
              </a:rPr>
              <a:t>7</a:t>
            </a:r>
            <a:endParaRPr b="1" sz="1200">
              <a:solidFill>
                <a:srgbClr val="00695C"/>
              </a:solidFill>
              <a:latin typeface="Lato"/>
              <a:ea typeface="Lato"/>
              <a:cs typeface="Lato"/>
              <a:sym typeface="Lato"/>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60" name="Shape 160"/>
        <p:cNvGrpSpPr/>
        <p:nvPr/>
      </p:nvGrpSpPr>
      <p:grpSpPr>
        <a:xfrm>
          <a:off x="0" y="0"/>
          <a:ext cx="0" cy="0"/>
          <a:chOff x="0" y="0"/>
          <a:chExt cx="0" cy="0"/>
        </a:xfrm>
      </p:grpSpPr>
      <p:sp>
        <p:nvSpPr>
          <p:cNvPr id="161" name="Google Shape;161;p18"/>
          <p:cNvSpPr txBox="1"/>
          <p:nvPr/>
        </p:nvSpPr>
        <p:spPr>
          <a:xfrm>
            <a:off x="762000" y="571500"/>
            <a:ext cx="11401500" cy="1015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chemeClr val="dk1"/>
              </a:buClr>
              <a:buFont typeface="Arial"/>
              <a:buNone/>
            </a:pPr>
            <a:r>
              <a:rPr b="1" lang="en-US" sz="3300">
                <a:solidFill>
                  <a:srgbClr val="0F172A"/>
                </a:solidFill>
                <a:latin typeface="Playfair Display"/>
                <a:ea typeface="Playfair Display"/>
                <a:cs typeface="Playfair Display"/>
                <a:sym typeface="Playfair Display"/>
              </a:rPr>
              <a:t>Metrik Lanjutan (Advanced Metrics)</a:t>
            </a:r>
            <a:endParaRPr>
              <a:solidFill>
                <a:schemeClr val="dk1"/>
              </a:solidFill>
            </a:endParaRPr>
          </a:p>
          <a:p>
            <a:pPr indent="0" lvl="0" marL="0" rtl="0" algn="l">
              <a:spcBef>
                <a:spcPts val="0"/>
              </a:spcBef>
              <a:spcAft>
                <a:spcPts val="0"/>
              </a:spcAft>
              <a:buNone/>
            </a:pPr>
            <a:r>
              <a:t/>
            </a:r>
            <a:endParaRPr b="1" sz="3300">
              <a:solidFill>
                <a:srgbClr val="0F172A"/>
              </a:solidFill>
              <a:latin typeface="Playfair Display"/>
              <a:ea typeface="Playfair Display"/>
              <a:cs typeface="Playfair Display"/>
              <a:sym typeface="Playfair Display"/>
            </a:endParaRPr>
          </a:p>
        </p:txBody>
      </p:sp>
      <p:sp>
        <p:nvSpPr>
          <p:cNvPr id="162" name="Google Shape;162;p18"/>
          <p:cNvSpPr/>
          <p:nvPr/>
        </p:nvSpPr>
        <p:spPr>
          <a:xfrm>
            <a:off x="571500" y="571500"/>
            <a:ext cx="47700" cy="561900"/>
          </a:xfrm>
          <a:prstGeom prst="rect">
            <a:avLst/>
          </a:prstGeom>
          <a:solidFill>
            <a:srgbClr val="00ACC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63" name="Google Shape;163;p18"/>
          <p:cNvSpPr txBox="1"/>
          <p:nvPr/>
        </p:nvSpPr>
        <p:spPr>
          <a:xfrm>
            <a:off x="868950" y="2478700"/>
            <a:ext cx="30000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Font typeface="Arial"/>
              <a:buNone/>
            </a:pPr>
            <a:r>
              <a:rPr b="1" lang="en-US" sz="1800">
                <a:solidFill>
                  <a:srgbClr val="006064"/>
                </a:solidFill>
                <a:latin typeface="Playfair Display"/>
                <a:ea typeface="Playfair Display"/>
                <a:cs typeface="Playfair Display"/>
                <a:sym typeface="Playfair Display"/>
              </a:rPr>
              <a:t>3. Minkowski Distance</a:t>
            </a:r>
            <a:endParaRPr>
              <a:solidFill>
                <a:schemeClr val="dk1"/>
              </a:solidFill>
            </a:endParaRPr>
          </a:p>
        </p:txBody>
      </p:sp>
      <p:sp>
        <p:nvSpPr>
          <p:cNvPr id="164" name="Google Shape;164;p18"/>
          <p:cNvSpPr txBox="1"/>
          <p:nvPr/>
        </p:nvSpPr>
        <p:spPr>
          <a:xfrm>
            <a:off x="803550" y="2884325"/>
            <a:ext cx="5082900" cy="2719800"/>
          </a:xfrm>
          <a:prstGeom prst="rect">
            <a:avLst/>
          </a:prstGeom>
          <a:noFill/>
          <a:ln>
            <a:noFill/>
          </a:ln>
        </p:spPr>
        <p:txBody>
          <a:bodyPr anchorCtr="0" anchor="t" bIns="91425" lIns="91425" spcFirstLastPara="1" rIns="91425" wrap="square" tIns="91425">
            <a:spAutoFit/>
          </a:bodyPr>
          <a:lstStyle/>
          <a:p>
            <a:pPr indent="0" lvl="0" marL="0" rtl="0" algn="just">
              <a:lnSpc>
                <a:spcPct val="160000"/>
              </a:lnSpc>
              <a:spcBef>
                <a:spcPts val="0"/>
              </a:spcBef>
              <a:spcAft>
                <a:spcPts val="0"/>
              </a:spcAft>
              <a:buNone/>
            </a:pPr>
            <a:r>
              <a:rPr lang="en-US" sz="1350">
                <a:solidFill>
                  <a:srgbClr val="334155"/>
                </a:solidFill>
                <a:latin typeface="Lato"/>
                <a:ea typeface="Lato"/>
                <a:cs typeface="Lato"/>
                <a:sym typeface="Lato"/>
              </a:rPr>
              <a:t>Minkowski adalah bentuk generalisasi matematis yang memayungi Euclidean dan Manhattan. Dengan mengubah parameter 'p', kita bisa mengatur sensitivitas jarak. Jika p=1, ia menjadi Manhattan; jika p=2, ia menjadi Euclidean. Ini memberikan fleksibilitas tinggi.</a:t>
            </a:r>
            <a:endParaRPr sz="1350">
              <a:solidFill>
                <a:srgbClr val="334155"/>
              </a:solidFill>
              <a:latin typeface="Lato"/>
              <a:ea typeface="Lato"/>
              <a:cs typeface="Lato"/>
              <a:sym typeface="Lato"/>
            </a:endParaRPr>
          </a:p>
          <a:p>
            <a:pPr indent="0" lvl="0" marL="0" rtl="0" algn="l">
              <a:lnSpc>
                <a:spcPct val="160000"/>
              </a:lnSpc>
              <a:spcBef>
                <a:spcPts val="0"/>
              </a:spcBef>
              <a:spcAft>
                <a:spcPts val="0"/>
              </a:spcAft>
              <a:buNone/>
            </a:pPr>
            <a:r>
              <a:t/>
            </a:r>
            <a:endParaRPr sz="1350">
              <a:solidFill>
                <a:srgbClr val="334155"/>
              </a:solidFill>
              <a:latin typeface="Lato"/>
              <a:ea typeface="Lato"/>
              <a:cs typeface="Lato"/>
              <a:sym typeface="Lato"/>
            </a:endParaRPr>
          </a:p>
          <a:p>
            <a:pPr indent="0" lvl="0" marL="0" rtl="0" algn="l">
              <a:lnSpc>
                <a:spcPct val="160000"/>
              </a:lnSpc>
              <a:spcBef>
                <a:spcPts val="0"/>
              </a:spcBef>
              <a:spcAft>
                <a:spcPts val="0"/>
              </a:spcAft>
              <a:buClr>
                <a:schemeClr val="dk1"/>
              </a:buClr>
              <a:buFont typeface="Arial"/>
              <a:buNone/>
            </a:pPr>
            <a:r>
              <a:t/>
            </a:r>
            <a:endParaRPr sz="1350">
              <a:solidFill>
                <a:srgbClr val="334155"/>
              </a:solidFill>
              <a:latin typeface="Lato"/>
              <a:ea typeface="Lato"/>
              <a:cs typeface="Lato"/>
              <a:sym typeface="Lato"/>
            </a:endParaRPr>
          </a:p>
          <a:p>
            <a:pPr indent="0" lvl="0" marL="0" rtl="0" algn="l">
              <a:lnSpc>
                <a:spcPct val="160000"/>
              </a:lnSpc>
              <a:spcBef>
                <a:spcPts val="0"/>
              </a:spcBef>
              <a:spcAft>
                <a:spcPts val="1100"/>
              </a:spcAft>
              <a:buNone/>
            </a:pPr>
            <a:r>
              <a:t/>
            </a:r>
            <a:endParaRPr sz="1350">
              <a:solidFill>
                <a:srgbClr val="334155"/>
              </a:solidFill>
              <a:highlight>
                <a:srgbClr val="FFFFFF"/>
              </a:highlight>
              <a:latin typeface="Lato"/>
              <a:ea typeface="Lato"/>
              <a:cs typeface="Lato"/>
              <a:sym typeface="Lato"/>
            </a:endParaRPr>
          </a:p>
        </p:txBody>
      </p:sp>
      <p:sp>
        <p:nvSpPr>
          <p:cNvPr id="165" name="Google Shape;165;p18"/>
          <p:cNvSpPr txBox="1"/>
          <p:nvPr/>
        </p:nvSpPr>
        <p:spPr>
          <a:xfrm>
            <a:off x="6636650" y="2478700"/>
            <a:ext cx="36756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Font typeface="Arial"/>
              <a:buNone/>
            </a:pPr>
            <a:r>
              <a:rPr b="1" lang="en-US" sz="1800">
                <a:solidFill>
                  <a:srgbClr val="006064"/>
                </a:solidFill>
                <a:latin typeface="Playfair Display"/>
                <a:ea typeface="Playfair Display"/>
                <a:cs typeface="Playfair Display"/>
                <a:sym typeface="Playfair Display"/>
              </a:rPr>
              <a:t>4. Cosine Similarity</a:t>
            </a:r>
            <a:endParaRPr>
              <a:solidFill>
                <a:schemeClr val="dk1"/>
              </a:solidFill>
            </a:endParaRPr>
          </a:p>
          <a:p>
            <a:pPr indent="0" lvl="0" marL="0" rtl="0" algn="l">
              <a:spcBef>
                <a:spcPts val="0"/>
              </a:spcBef>
              <a:spcAft>
                <a:spcPts val="0"/>
              </a:spcAft>
              <a:buNone/>
            </a:pPr>
            <a:r>
              <a:t/>
            </a:r>
            <a:endParaRPr b="1" sz="1800">
              <a:solidFill>
                <a:srgbClr val="006064"/>
              </a:solidFill>
              <a:latin typeface="Playfair Display"/>
              <a:ea typeface="Playfair Display"/>
              <a:cs typeface="Playfair Display"/>
              <a:sym typeface="Playfair Display"/>
            </a:endParaRPr>
          </a:p>
        </p:txBody>
      </p:sp>
      <p:sp>
        <p:nvSpPr>
          <p:cNvPr id="166" name="Google Shape;166;p18"/>
          <p:cNvSpPr txBox="1"/>
          <p:nvPr/>
        </p:nvSpPr>
        <p:spPr>
          <a:xfrm>
            <a:off x="6636650" y="2884325"/>
            <a:ext cx="4422900" cy="1863600"/>
          </a:xfrm>
          <a:prstGeom prst="rect">
            <a:avLst/>
          </a:prstGeom>
          <a:noFill/>
          <a:ln>
            <a:noFill/>
          </a:ln>
        </p:spPr>
        <p:txBody>
          <a:bodyPr anchorCtr="0" anchor="t" bIns="91425" lIns="91425" spcFirstLastPara="1" rIns="91425" wrap="square" tIns="91425">
            <a:spAutoFit/>
          </a:bodyPr>
          <a:lstStyle/>
          <a:p>
            <a:pPr indent="0" lvl="0" marL="0" rtl="0" algn="just">
              <a:lnSpc>
                <a:spcPct val="160000"/>
              </a:lnSpc>
              <a:spcBef>
                <a:spcPts val="0"/>
              </a:spcBef>
              <a:spcAft>
                <a:spcPts val="0"/>
              </a:spcAft>
              <a:buClr>
                <a:schemeClr val="dk1"/>
              </a:buClr>
              <a:buSzPts val="1100"/>
              <a:buFont typeface="Arial"/>
              <a:buNone/>
            </a:pPr>
            <a:r>
              <a:rPr lang="en-US" sz="1350">
                <a:solidFill>
                  <a:srgbClr val="334155"/>
                </a:solidFill>
                <a:highlight>
                  <a:srgbClr val="FFFFFF"/>
                </a:highlight>
                <a:latin typeface="Lato"/>
                <a:ea typeface="Lato"/>
                <a:cs typeface="Lato"/>
                <a:sym typeface="Lato"/>
              </a:rPr>
              <a:t>Cosine Similarity mengukur kosinus sudut antara dua vektor bukan nol. Metrik ini ideal untuk data teks atau ketika besaran tidak menjadi pertimbangan (misalnya, vektor frekuensi kata).</a:t>
            </a:r>
            <a:endParaRPr sz="1350">
              <a:solidFill>
                <a:srgbClr val="334155"/>
              </a:solidFill>
              <a:highlight>
                <a:srgbClr val="FFFFFF"/>
              </a:highlight>
              <a:latin typeface="Lato"/>
              <a:ea typeface="Lato"/>
              <a:cs typeface="Lato"/>
              <a:sym typeface="Lato"/>
            </a:endParaRPr>
          </a:p>
          <a:p>
            <a:pPr indent="0" lvl="0" marL="0" rtl="0" algn="l">
              <a:lnSpc>
                <a:spcPct val="160000"/>
              </a:lnSpc>
              <a:spcBef>
                <a:spcPts val="1100"/>
              </a:spcBef>
              <a:spcAft>
                <a:spcPts val="0"/>
              </a:spcAft>
              <a:buNone/>
            </a:pPr>
            <a:r>
              <a:t/>
            </a:r>
            <a:endParaRPr sz="1350">
              <a:solidFill>
                <a:srgbClr val="334155"/>
              </a:solidFill>
              <a:latin typeface="Lato"/>
              <a:ea typeface="Lato"/>
              <a:cs typeface="Lato"/>
              <a:sym typeface="Lato"/>
            </a:endParaRPr>
          </a:p>
        </p:txBody>
      </p:sp>
      <p:pic>
        <p:nvPicPr>
          <p:cNvPr descr="image.png" id="167" name="Google Shape;167;p18"/>
          <p:cNvPicPr preferRelativeResize="0"/>
          <p:nvPr/>
        </p:nvPicPr>
        <p:blipFill rotWithShape="1">
          <a:blip r:embed="rId3">
            <a:alphaModFix/>
          </a:blip>
          <a:srcRect b="-6669" l="0" r="0" t="6669"/>
          <a:stretch/>
        </p:blipFill>
        <p:spPr>
          <a:xfrm>
            <a:off x="701800" y="4670765"/>
            <a:ext cx="5286375" cy="714523"/>
          </a:xfrm>
          <a:prstGeom prst="rect">
            <a:avLst/>
          </a:prstGeom>
          <a:noFill/>
          <a:ln>
            <a:noFill/>
          </a:ln>
        </p:spPr>
      </p:pic>
      <p:pic>
        <p:nvPicPr>
          <p:cNvPr descr="image.png" id="168" name="Google Shape;168;p18"/>
          <p:cNvPicPr preferRelativeResize="0"/>
          <p:nvPr/>
        </p:nvPicPr>
        <p:blipFill rotWithShape="1">
          <a:blip r:embed="rId4">
            <a:alphaModFix/>
          </a:blip>
          <a:srcRect b="0" l="0" r="0" t="0"/>
          <a:stretch/>
        </p:blipFill>
        <p:spPr>
          <a:xfrm>
            <a:off x="6712850" y="4583405"/>
            <a:ext cx="5286375" cy="80188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2" name="Shape 172"/>
        <p:cNvGrpSpPr/>
        <p:nvPr/>
      </p:nvGrpSpPr>
      <p:grpSpPr>
        <a:xfrm>
          <a:off x="0" y="0"/>
          <a:ext cx="0" cy="0"/>
          <a:chOff x="0" y="0"/>
          <a:chExt cx="0" cy="0"/>
        </a:xfrm>
      </p:grpSpPr>
      <p:pic>
        <p:nvPicPr>
          <p:cNvPr descr="image.png" id="173" name="Google Shape;173;p19"/>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74" name="Google Shape;174;p19"/>
          <p:cNvPicPr preferRelativeResize="0"/>
          <p:nvPr/>
        </p:nvPicPr>
        <p:blipFill rotWithShape="1">
          <a:blip r:embed="rId4">
            <a:alphaModFix/>
          </a:blip>
          <a:srcRect b="0" l="0" r="0" t="0"/>
          <a:stretch/>
        </p:blipFill>
        <p:spPr>
          <a:xfrm>
            <a:off x="6381750" y="1995487"/>
            <a:ext cx="5238750" cy="3810000"/>
          </a:xfrm>
          <a:prstGeom prst="rect">
            <a:avLst/>
          </a:prstGeom>
          <a:noFill/>
          <a:ln>
            <a:noFill/>
          </a:ln>
        </p:spPr>
      </p:pic>
      <p:sp>
        <p:nvSpPr>
          <p:cNvPr id="175" name="Google Shape;175;p19"/>
          <p:cNvSpPr txBox="1"/>
          <p:nvPr/>
        </p:nvSpPr>
        <p:spPr>
          <a:xfrm>
            <a:off x="762000" y="571500"/>
            <a:ext cx="11401425" cy="5619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300" u="none" cap="none" strike="noStrike">
                <a:solidFill>
                  <a:srgbClr val="0F172A"/>
                </a:solidFill>
                <a:latin typeface="Playfair Display"/>
                <a:ea typeface="Playfair Display"/>
                <a:cs typeface="Playfair Display"/>
                <a:sym typeface="Playfair Display"/>
              </a:rPr>
              <a:t>Linkage Criteria (Kriteria Jarak)</a:t>
            </a:r>
            <a:endParaRPr/>
          </a:p>
        </p:txBody>
      </p:sp>
      <p:sp>
        <p:nvSpPr>
          <p:cNvPr id="176" name="Google Shape;176;p19"/>
          <p:cNvSpPr/>
          <p:nvPr/>
        </p:nvSpPr>
        <p:spPr>
          <a:xfrm>
            <a:off x="571500" y="571500"/>
            <a:ext cx="47625" cy="561975"/>
          </a:xfrm>
          <a:prstGeom prst="rect">
            <a:avLst/>
          </a:prstGeom>
          <a:solidFill>
            <a:srgbClr val="00ACC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image.png" id="177" name="Google Shape;177;p19"/>
          <p:cNvPicPr preferRelativeResize="0"/>
          <p:nvPr/>
        </p:nvPicPr>
        <p:blipFill rotWithShape="1">
          <a:blip r:embed="rId5">
            <a:alphaModFix/>
          </a:blip>
          <a:srcRect b="0" l="0" r="0" t="0"/>
          <a:stretch/>
        </p:blipFill>
        <p:spPr>
          <a:xfrm>
            <a:off x="6381750" y="1995487"/>
            <a:ext cx="5238750" cy="3810000"/>
          </a:xfrm>
          <a:prstGeom prst="rect">
            <a:avLst/>
          </a:prstGeom>
          <a:noFill/>
          <a:ln>
            <a:noFill/>
          </a:ln>
        </p:spPr>
      </p:pic>
      <p:sp>
        <p:nvSpPr>
          <p:cNvPr id="178" name="Google Shape;178;p19"/>
          <p:cNvSpPr txBox="1"/>
          <p:nvPr/>
        </p:nvSpPr>
        <p:spPr>
          <a:xfrm>
            <a:off x="714375" y="2105114"/>
            <a:ext cx="95250" cy="2762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350" u="none" cap="none" strike="noStrike">
                <a:solidFill>
                  <a:srgbClr val="475569"/>
                </a:solidFill>
                <a:latin typeface="Lato"/>
                <a:ea typeface="Lato"/>
                <a:cs typeface="Lato"/>
                <a:sym typeface="Lato"/>
              </a:rPr>
              <a:t>•</a:t>
            </a:r>
            <a:endParaRPr/>
          </a:p>
        </p:txBody>
      </p:sp>
      <p:sp>
        <p:nvSpPr>
          <p:cNvPr id="179" name="Google Shape;179;p19"/>
          <p:cNvSpPr txBox="1"/>
          <p:nvPr/>
        </p:nvSpPr>
        <p:spPr>
          <a:xfrm>
            <a:off x="809625" y="2106066"/>
            <a:ext cx="5000700" cy="872700"/>
          </a:xfrm>
          <a:prstGeom prst="rect">
            <a:avLst/>
          </a:prstGeom>
          <a:noFill/>
          <a:ln>
            <a:noFill/>
          </a:ln>
        </p:spPr>
        <p:txBody>
          <a:bodyPr anchorCtr="0" anchor="t" bIns="0" lIns="95250" spcFirstLastPara="1" rIns="0" wrap="square" tIns="0">
            <a:spAutoFit/>
          </a:bodyPr>
          <a:lstStyle/>
          <a:p>
            <a:pPr indent="0" lvl="0" marL="0" marR="0" rtl="0" algn="just">
              <a:lnSpc>
                <a:spcPct val="160000"/>
              </a:lnSpc>
              <a:spcBef>
                <a:spcPts val="0"/>
              </a:spcBef>
              <a:spcAft>
                <a:spcPts val="0"/>
              </a:spcAft>
              <a:buNone/>
            </a:pPr>
            <a:r>
              <a:rPr b="1" i="0" lang="en-US" sz="1350" u="none" cap="none" strike="noStrike">
                <a:solidFill>
                  <a:srgbClr val="006064"/>
                </a:solidFill>
                <a:latin typeface="Lato"/>
                <a:ea typeface="Lato"/>
                <a:cs typeface="Lato"/>
                <a:sym typeface="Lato"/>
              </a:rPr>
              <a:t>Single Linkage:</a:t>
            </a:r>
            <a:r>
              <a:rPr b="0" i="0" lang="en-US" sz="1350" u="none" cap="none" strike="noStrike">
                <a:solidFill>
                  <a:srgbClr val="475569"/>
                </a:solidFill>
                <a:latin typeface="Lato"/>
                <a:ea typeface="Lato"/>
                <a:cs typeface="Lato"/>
                <a:sym typeface="Lato"/>
              </a:rPr>
              <a:t> Mengukur jarak terdekat antar titik di dua cluster. Metode ini cenderung menghasilkan cluster yang memanjang (chaining effect) dan sangat sensitif terhadap noise.</a:t>
            </a:r>
            <a:endParaRPr/>
          </a:p>
        </p:txBody>
      </p:sp>
      <p:sp>
        <p:nvSpPr>
          <p:cNvPr id="180" name="Google Shape;180;p19"/>
          <p:cNvSpPr txBox="1"/>
          <p:nvPr/>
        </p:nvSpPr>
        <p:spPr>
          <a:xfrm>
            <a:off x="714375" y="3070860"/>
            <a:ext cx="95250" cy="2762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350" u="none" cap="none" strike="noStrike">
                <a:solidFill>
                  <a:srgbClr val="475569"/>
                </a:solidFill>
                <a:latin typeface="Lato"/>
                <a:ea typeface="Lato"/>
                <a:cs typeface="Lato"/>
                <a:sym typeface="Lato"/>
              </a:rPr>
              <a:t>•</a:t>
            </a:r>
            <a:endParaRPr/>
          </a:p>
        </p:txBody>
      </p:sp>
      <p:sp>
        <p:nvSpPr>
          <p:cNvPr id="181" name="Google Shape;181;p19"/>
          <p:cNvSpPr txBox="1"/>
          <p:nvPr/>
        </p:nvSpPr>
        <p:spPr>
          <a:xfrm>
            <a:off x="809625" y="3071812"/>
            <a:ext cx="5000700" cy="872700"/>
          </a:xfrm>
          <a:prstGeom prst="rect">
            <a:avLst/>
          </a:prstGeom>
          <a:noFill/>
          <a:ln>
            <a:noFill/>
          </a:ln>
        </p:spPr>
        <p:txBody>
          <a:bodyPr anchorCtr="0" anchor="t" bIns="0" lIns="95250" spcFirstLastPara="1" rIns="0" wrap="square" tIns="0">
            <a:spAutoFit/>
          </a:bodyPr>
          <a:lstStyle/>
          <a:p>
            <a:pPr indent="0" lvl="0" marL="0" marR="0" rtl="0" algn="just">
              <a:lnSpc>
                <a:spcPct val="160000"/>
              </a:lnSpc>
              <a:spcBef>
                <a:spcPts val="0"/>
              </a:spcBef>
              <a:spcAft>
                <a:spcPts val="0"/>
              </a:spcAft>
              <a:buNone/>
            </a:pPr>
            <a:r>
              <a:rPr b="1" i="0" lang="en-US" sz="1350" u="none" cap="none" strike="noStrike">
                <a:solidFill>
                  <a:srgbClr val="006064"/>
                </a:solidFill>
                <a:latin typeface="Lato"/>
                <a:ea typeface="Lato"/>
                <a:cs typeface="Lato"/>
                <a:sym typeface="Lato"/>
              </a:rPr>
              <a:t>Complete Linkage:</a:t>
            </a:r>
            <a:r>
              <a:rPr b="0" i="0" lang="en-US" sz="1350" u="none" cap="none" strike="noStrike">
                <a:solidFill>
                  <a:srgbClr val="475569"/>
                </a:solidFill>
                <a:latin typeface="Lato"/>
                <a:ea typeface="Lato"/>
                <a:cs typeface="Lato"/>
                <a:sym typeface="Lato"/>
              </a:rPr>
              <a:t> Mengukur jarak terjauh antar anggotanya. Ini menghasilkan cluster yang lebih kompak dan bulat, namun bisa memecah cluster besar.</a:t>
            </a:r>
            <a:endParaRPr/>
          </a:p>
        </p:txBody>
      </p:sp>
      <p:sp>
        <p:nvSpPr>
          <p:cNvPr id="182" name="Google Shape;182;p19"/>
          <p:cNvSpPr txBox="1"/>
          <p:nvPr/>
        </p:nvSpPr>
        <p:spPr>
          <a:xfrm>
            <a:off x="714375" y="4036605"/>
            <a:ext cx="95250" cy="2762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350" u="none" cap="none" strike="noStrike">
                <a:solidFill>
                  <a:srgbClr val="475569"/>
                </a:solidFill>
                <a:latin typeface="Lato"/>
                <a:ea typeface="Lato"/>
                <a:cs typeface="Lato"/>
                <a:sym typeface="Lato"/>
              </a:rPr>
              <a:t>•</a:t>
            </a:r>
            <a:endParaRPr/>
          </a:p>
        </p:txBody>
      </p:sp>
      <p:sp>
        <p:nvSpPr>
          <p:cNvPr id="183" name="Google Shape;183;p19"/>
          <p:cNvSpPr txBox="1"/>
          <p:nvPr/>
        </p:nvSpPr>
        <p:spPr>
          <a:xfrm>
            <a:off x="809625" y="4037558"/>
            <a:ext cx="5000700" cy="872700"/>
          </a:xfrm>
          <a:prstGeom prst="rect">
            <a:avLst/>
          </a:prstGeom>
          <a:noFill/>
          <a:ln>
            <a:noFill/>
          </a:ln>
        </p:spPr>
        <p:txBody>
          <a:bodyPr anchorCtr="0" anchor="t" bIns="0" lIns="95250" spcFirstLastPara="1" rIns="0" wrap="square" tIns="0">
            <a:spAutoFit/>
          </a:bodyPr>
          <a:lstStyle/>
          <a:p>
            <a:pPr indent="0" lvl="0" marL="0" marR="0" rtl="0" algn="just">
              <a:lnSpc>
                <a:spcPct val="160000"/>
              </a:lnSpc>
              <a:spcBef>
                <a:spcPts val="0"/>
              </a:spcBef>
              <a:spcAft>
                <a:spcPts val="0"/>
              </a:spcAft>
              <a:buNone/>
            </a:pPr>
            <a:r>
              <a:rPr b="1" i="0" lang="en-US" sz="1350" u="none" cap="none" strike="noStrike">
                <a:solidFill>
                  <a:srgbClr val="006064"/>
                </a:solidFill>
                <a:latin typeface="Lato"/>
                <a:ea typeface="Lato"/>
                <a:cs typeface="Lato"/>
                <a:sym typeface="Lato"/>
              </a:rPr>
              <a:t>Average Linkage:</a:t>
            </a:r>
            <a:r>
              <a:rPr b="0" i="0" lang="en-US" sz="1350" u="none" cap="none" strike="noStrike">
                <a:solidFill>
                  <a:srgbClr val="475569"/>
                </a:solidFill>
                <a:latin typeface="Lato"/>
                <a:ea typeface="Lato"/>
                <a:cs typeface="Lato"/>
                <a:sym typeface="Lato"/>
              </a:rPr>
              <a:t> Menghitung rata-rata jarak antara semua pasangan titik di dua cluster, memberikan kompromi yang seimbang.</a:t>
            </a:r>
            <a:endParaRPr/>
          </a:p>
        </p:txBody>
      </p:sp>
      <p:sp>
        <p:nvSpPr>
          <p:cNvPr id="184" name="Google Shape;184;p19"/>
          <p:cNvSpPr txBox="1"/>
          <p:nvPr/>
        </p:nvSpPr>
        <p:spPr>
          <a:xfrm>
            <a:off x="714375" y="5002351"/>
            <a:ext cx="95250" cy="2762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350" u="none" cap="none" strike="noStrike">
                <a:solidFill>
                  <a:srgbClr val="475569"/>
                </a:solidFill>
                <a:latin typeface="Lato"/>
                <a:ea typeface="Lato"/>
                <a:cs typeface="Lato"/>
                <a:sym typeface="Lato"/>
              </a:rPr>
              <a:t>•</a:t>
            </a:r>
            <a:endParaRPr/>
          </a:p>
        </p:txBody>
      </p:sp>
      <p:sp>
        <p:nvSpPr>
          <p:cNvPr id="185" name="Google Shape;185;p19"/>
          <p:cNvSpPr txBox="1"/>
          <p:nvPr/>
        </p:nvSpPr>
        <p:spPr>
          <a:xfrm>
            <a:off x="809625" y="5003303"/>
            <a:ext cx="5000700" cy="207900"/>
          </a:xfrm>
          <a:prstGeom prst="rect">
            <a:avLst/>
          </a:prstGeom>
          <a:noFill/>
          <a:ln>
            <a:noFill/>
          </a:ln>
        </p:spPr>
        <p:txBody>
          <a:bodyPr anchorCtr="0" anchor="t" bIns="0" lIns="95250" spcFirstLastPara="1" rIns="0" wrap="square" tIns="0">
            <a:spAutoFit/>
          </a:bodyPr>
          <a:lstStyle/>
          <a:p>
            <a:pPr indent="0" lvl="0" marL="0" marR="0" rtl="0" algn="just">
              <a:lnSpc>
                <a:spcPct val="160000"/>
              </a:lnSpc>
              <a:spcBef>
                <a:spcPts val="0"/>
              </a:spcBef>
              <a:spcAft>
                <a:spcPts val="0"/>
              </a:spcAft>
              <a:buNone/>
            </a:pPr>
            <a:r>
              <a:rPr b="1" i="0" lang="en-US" sz="1350" u="none" cap="none" strike="noStrike">
                <a:solidFill>
                  <a:srgbClr val="006064"/>
                </a:solidFill>
                <a:latin typeface="Lato"/>
                <a:ea typeface="Lato"/>
                <a:cs typeface="Lato"/>
                <a:sym typeface="Lato"/>
              </a:rPr>
              <a:t>Ward's Method:</a:t>
            </a:r>
            <a:r>
              <a:rPr b="0" i="0" lang="en-US" sz="1350" u="none" cap="none" strike="noStrike">
                <a:solidFill>
                  <a:srgbClr val="475569"/>
                </a:solidFill>
                <a:latin typeface="Lato"/>
                <a:ea typeface="Lato"/>
                <a:cs typeface="Lato"/>
                <a:sym typeface="Lato"/>
              </a:rPr>
              <a:t> Berfokus meminimalkan varians internal cluster</a:t>
            </a:r>
            <a:r>
              <a:rPr lang="en-US" sz="1350">
                <a:solidFill>
                  <a:srgbClr val="475569"/>
                </a:solidFill>
                <a:latin typeface="Lato"/>
                <a:ea typeface="Lato"/>
                <a:cs typeface="Lato"/>
                <a:sym typeface="Lato"/>
              </a:rPr>
              <a:t>.</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89" name="Shape 189"/>
        <p:cNvGrpSpPr/>
        <p:nvPr/>
      </p:nvGrpSpPr>
      <p:grpSpPr>
        <a:xfrm>
          <a:off x="0" y="0"/>
          <a:ext cx="0" cy="0"/>
          <a:chOff x="0" y="0"/>
          <a:chExt cx="0" cy="0"/>
        </a:xfrm>
      </p:grpSpPr>
      <p:pic>
        <p:nvPicPr>
          <p:cNvPr descr="image.png" id="190" name="Google Shape;190;p20"/>
          <p:cNvPicPr preferRelativeResize="0"/>
          <p:nvPr/>
        </p:nvPicPr>
        <p:blipFill rotWithShape="1">
          <a:blip r:embed="rId3">
            <a:alphaModFix/>
          </a:blip>
          <a:srcRect b="0" l="0" r="0" t="0"/>
          <a:stretch/>
        </p:blipFill>
        <p:spPr>
          <a:xfrm>
            <a:off x="0" y="911075"/>
            <a:ext cx="12192000" cy="6858000"/>
          </a:xfrm>
          <a:prstGeom prst="rect">
            <a:avLst/>
          </a:prstGeom>
          <a:noFill/>
          <a:ln>
            <a:noFill/>
          </a:ln>
        </p:spPr>
      </p:pic>
      <p:sp>
        <p:nvSpPr>
          <p:cNvPr id="191" name="Google Shape;191;p20"/>
          <p:cNvSpPr txBox="1"/>
          <p:nvPr/>
        </p:nvSpPr>
        <p:spPr>
          <a:xfrm>
            <a:off x="790500" y="254000"/>
            <a:ext cx="11401500" cy="507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300" u="none" cap="none" strike="noStrike">
                <a:solidFill>
                  <a:srgbClr val="0F172A"/>
                </a:solidFill>
                <a:latin typeface="Playfair Display"/>
                <a:ea typeface="Playfair Display"/>
                <a:cs typeface="Playfair Display"/>
                <a:sym typeface="Playfair Display"/>
              </a:rPr>
              <a:t>Hipotesis Function: The Cut</a:t>
            </a:r>
            <a:endParaRPr/>
          </a:p>
        </p:txBody>
      </p:sp>
      <p:sp>
        <p:nvSpPr>
          <p:cNvPr id="192" name="Google Shape;192;p20"/>
          <p:cNvSpPr/>
          <p:nvPr/>
        </p:nvSpPr>
        <p:spPr>
          <a:xfrm>
            <a:off x="571500" y="571500"/>
            <a:ext cx="47625" cy="561975"/>
          </a:xfrm>
          <a:prstGeom prst="rect">
            <a:avLst/>
          </a:prstGeom>
          <a:solidFill>
            <a:srgbClr val="00ACC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93" name="Google Shape;193;p20"/>
          <p:cNvSpPr txBox="1"/>
          <p:nvPr/>
        </p:nvSpPr>
        <p:spPr>
          <a:xfrm>
            <a:off x="6381750" y="2242244"/>
            <a:ext cx="5238900" cy="872700"/>
          </a:xfrm>
          <a:prstGeom prst="rect">
            <a:avLst/>
          </a:prstGeom>
          <a:noFill/>
          <a:ln>
            <a:noFill/>
          </a:ln>
        </p:spPr>
        <p:txBody>
          <a:bodyPr anchorCtr="0" anchor="t" bIns="0" lIns="0" spcFirstLastPara="1" rIns="0" wrap="square" tIns="0">
            <a:spAutoFit/>
          </a:bodyPr>
          <a:lstStyle/>
          <a:p>
            <a:pPr indent="0" lvl="0" marL="0" marR="0" rtl="0" algn="just">
              <a:lnSpc>
                <a:spcPct val="160000"/>
              </a:lnSpc>
              <a:spcBef>
                <a:spcPts val="0"/>
              </a:spcBef>
              <a:spcAft>
                <a:spcPts val="0"/>
              </a:spcAft>
              <a:buNone/>
            </a:pPr>
            <a:r>
              <a:rPr b="0" i="0" lang="en-US" sz="1350" u="none" cap="none" strike="noStrike">
                <a:solidFill>
                  <a:srgbClr val="334155"/>
                </a:solidFill>
                <a:latin typeface="Lato"/>
                <a:ea typeface="Lato"/>
                <a:cs typeface="Lato"/>
                <a:sym typeface="Lato"/>
              </a:rPr>
              <a:t>Berbeda dengan supervised learning di mana hipotesis adalah prediksi output, di sini hipotesis adalah </a:t>
            </a:r>
            <a:r>
              <a:rPr b="1" i="0" lang="en-US" sz="1350" u="none" cap="none" strike="noStrike">
                <a:solidFill>
                  <a:srgbClr val="334155"/>
                </a:solidFill>
                <a:latin typeface="Lato"/>
                <a:ea typeface="Lato"/>
                <a:cs typeface="Lato"/>
                <a:sym typeface="Lato"/>
              </a:rPr>
              <a:t>aturan keputusan (decision rule)</a:t>
            </a:r>
            <a:r>
              <a:rPr b="0" i="0" lang="en-US" sz="1350" u="none" cap="none" strike="noStrike">
                <a:solidFill>
                  <a:srgbClr val="334155"/>
                </a:solidFill>
                <a:latin typeface="Lato"/>
                <a:ea typeface="Lato"/>
                <a:cs typeface="Lato"/>
                <a:sym typeface="Lato"/>
              </a:rPr>
              <a:t> tentang bagaimana data dikelompokkan.</a:t>
            </a:r>
            <a:endParaRPr/>
          </a:p>
        </p:txBody>
      </p:sp>
      <p:sp>
        <p:nvSpPr>
          <p:cNvPr id="194" name="Google Shape;194;p20"/>
          <p:cNvSpPr txBox="1"/>
          <p:nvPr/>
        </p:nvSpPr>
        <p:spPr>
          <a:xfrm>
            <a:off x="6381750" y="3208000"/>
            <a:ext cx="3201300" cy="9057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Clr>
                <a:schemeClr val="dk1"/>
              </a:buClr>
              <a:buSzPts val="1100"/>
              <a:buFont typeface="Arial"/>
              <a:buNone/>
            </a:pPr>
            <a:r>
              <a:rPr b="1" lang="en-US" sz="1800">
                <a:solidFill>
                  <a:srgbClr val="006064"/>
                </a:solidFill>
                <a:highlight>
                  <a:srgbClr val="FFFFFF"/>
                </a:highlight>
                <a:latin typeface="Playfair Display"/>
                <a:ea typeface="Playfair Display"/>
                <a:cs typeface="Playfair Display"/>
                <a:sym typeface="Playfair Display"/>
              </a:rPr>
              <a:t>Logika Pemotongan</a:t>
            </a:r>
            <a:endParaRPr b="1" sz="1800">
              <a:solidFill>
                <a:srgbClr val="006064"/>
              </a:solidFill>
              <a:highlight>
                <a:srgbClr val="FFFFFF"/>
              </a:highlight>
              <a:latin typeface="Playfair Display"/>
              <a:ea typeface="Playfair Display"/>
              <a:cs typeface="Playfair Display"/>
              <a:sym typeface="Playfair Display"/>
            </a:endParaRPr>
          </a:p>
          <a:p>
            <a:pPr indent="0" lvl="0" marL="0" rtl="0" algn="l">
              <a:lnSpc>
                <a:spcPct val="115000"/>
              </a:lnSpc>
              <a:spcBef>
                <a:spcPts val="900"/>
              </a:spcBef>
              <a:spcAft>
                <a:spcPts val="0"/>
              </a:spcAft>
              <a:buClr>
                <a:schemeClr val="dk1"/>
              </a:buClr>
              <a:buSzPts val="1100"/>
              <a:buFont typeface="Arial"/>
              <a:buNone/>
            </a:pPr>
            <a:r>
              <a:t/>
            </a:r>
            <a:endParaRPr sz="1100">
              <a:solidFill>
                <a:schemeClr val="dk1"/>
              </a:solidFill>
            </a:endParaRPr>
          </a:p>
          <a:p>
            <a:pPr indent="0" lvl="0" marL="0" marR="0" rtl="0" algn="l">
              <a:spcBef>
                <a:spcPts val="0"/>
              </a:spcBef>
              <a:spcAft>
                <a:spcPts val="0"/>
              </a:spcAft>
              <a:buNone/>
            </a:pPr>
            <a:r>
              <a:t/>
            </a:r>
            <a:endParaRPr b="1" sz="1800">
              <a:solidFill>
                <a:srgbClr val="006064"/>
              </a:solidFill>
              <a:latin typeface="Playfair Display"/>
              <a:ea typeface="Playfair Display"/>
              <a:cs typeface="Playfair Display"/>
              <a:sym typeface="Playfair Display"/>
            </a:endParaRPr>
          </a:p>
        </p:txBody>
      </p:sp>
      <p:sp>
        <p:nvSpPr>
          <p:cNvPr id="195" name="Google Shape;195;p20"/>
          <p:cNvSpPr txBox="1"/>
          <p:nvPr/>
        </p:nvSpPr>
        <p:spPr>
          <a:xfrm>
            <a:off x="6381750" y="3655647"/>
            <a:ext cx="5238900" cy="25350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lang="en-US" sz="1350">
                <a:solidFill>
                  <a:srgbClr val="334155"/>
                </a:solidFill>
                <a:latin typeface="Lato"/>
                <a:ea typeface="Lato"/>
                <a:cs typeface="Lato"/>
                <a:sym typeface="Lato"/>
              </a:rPr>
              <a:t>Menarik sebuah garis horizontal imajiner pada Dendrogram yang berfungsi sebagai "pisau pemotong".</a:t>
            </a:r>
            <a:endParaRPr sz="1350">
              <a:solidFill>
                <a:srgbClr val="334155"/>
              </a:solidFill>
              <a:latin typeface="Lato"/>
              <a:ea typeface="Lato"/>
              <a:cs typeface="Lato"/>
              <a:sym typeface="Lato"/>
            </a:endParaRPr>
          </a:p>
          <a:p>
            <a:pPr indent="-314325" lvl="0" marL="457200" marR="0" rtl="0" algn="just">
              <a:lnSpc>
                <a:spcPct val="160000"/>
              </a:lnSpc>
              <a:spcBef>
                <a:spcPts val="0"/>
              </a:spcBef>
              <a:spcAft>
                <a:spcPts val="0"/>
              </a:spcAft>
              <a:buClr>
                <a:srgbClr val="334155"/>
              </a:buClr>
              <a:buSzPts val="1350"/>
              <a:buFont typeface="Lato"/>
              <a:buChar char="●"/>
            </a:pPr>
            <a:r>
              <a:rPr lang="en-US" sz="1350">
                <a:solidFill>
                  <a:srgbClr val="334155"/>
                </a:solidFill>
                <a:latin typeface="Lato"/>
                <a:ea typeface="Lato"/>
                <a:cs typeface="Lato"/>
                <a:sym typeface="Lato"/>
              </a:rPr>
              <a:t>Jika kita memotong di bagian atas, kita mendapatkan sedikit kelompok yang bersifat umum (General).</a:t>
            </a:r>
            <a:endParaRPr sz="1350">
              <a:solidFill>
                <a:srgbClr val="334155"/>
              </a:solidFill>
              <a:latin typeface="Lato"/>
              <a:ea typeface="Lato"/>
              <a:cs typeface="Lato"/>
              <a:sym typeface="Lato"/>
            </a:endParaRPr>
          </a:p>
          <a:p>
            <a:pPr indent="-314325" lvl="0" marL="457200" marR="0" rtl="0" algn="l">
              <a:lnSpc>
                <a:spcPct val="160000"/>
              </a:lnSpc>
              <a:spcBef>
                <a:spcPts val="0"/>
              </a:spcBef>
              <a:spcAft>
                <a:spcPts val="0"/>
              </a:spcAft>
              <a:buClr>
                <a:srgbClr val="334155"/>
              </a:buClr>
              <a:buSzPts val="1350"/>
              <a:buFont typeface="Lato"/>
              <a:buChar char="●"/>
            </a:pPr>
            <a:r>
              <a:rPr lang="en-US" sz="1350">
                <a:solidFill>
                  <a:srgbClr val="334155"/>
                </a:solidFill>
                <a:latin typeface="Lato"/>
                <a:ea typeface="Lato"/>
                <a:cs typeface="Lato"/>
                <a:sym typeface="Lato"/>
              </a:rPr>
              <a:t>Jika kita memotong di bagian bawah, kita mendapatkan banyak kelompok yang sangat spesifik (Detail).</a:t>
            </a:r>
            <a:endParaRPr sz="1350">
              <a:solidFill>
                <a:srgbClr val="334155"/>
              </a:solidFill>
              <a:latin typeface="Lato"/>
              <a:ea typeface="Lato"/>
              <a:cs typeface="Lato"/>
              <a:sym typeface="Lato"/>
            </a:endParaRPr>
          </a:p>
          <a:p>
            <a:pPr indent="0" lvl="0" marL="0" marR="0" rtl="0" algn="l">
              <a:lnSpc>
                <a:spcPct val="160000"/>
              </a:lnSpc>
              <a:spcBef>
                <a:spcPts val="0"/>
              </a:spcBef>
              <a:spcAft>
                <a:spcPts val="0"/>
              </a:spcAft>
              <a:buNone/>
            </a:pPr>
            <a:r>
              <a:rPr lang="en-US" sz="1350">
                <a:solidFill>
                  <a:srgbClr val="334155"/>
                </a:solidFill>
                <a:latin typeface="Lato"/>
                <a:ea typeface="Lato"/>
                <a:cs typeface="Lato"/>
                <a:sym typeface="Lato"/>
              </a:rPr>
              <a:t>Jadi, fungsi hipotesisnya adalah: "Di mana kita memutuskan untuk berhenti mengelompokkan data?"</a:t>
            </a:r>
            <a:endParaRPr sz="1350">
              <a:solidFill>
                <a:srgbClr val="334155"/>
              </a:solidFill>
              <a:latin typeface="Lato"/>
              <a:ea typeface="Lato"/>
              <a:cs typeface="Lato"/>
              <a:sym typeface="Lato"/>
            </a:endParaRPr>
          </a:p>
        </p:txBody>
      </p:sp>
      <p:pic>
        <p:nvPicPr>
          <p:cNvPr id="196" name="Google Shape;196;p20"/>
          <p:cNvPicPr preferRelativeResize="0"/>
          <p:nvPr/>
        </p:nvPicPr>
        <p:blipFill>
          <a:blip r:embed="rId4">
            <a:alphaModFix/>
          </a:blip>
          <a:stretch>
            <a:fillRect/>
          </a:stretch>
        </p:blipFill>
        <p:spPr>
          <a:xfrm>
            <a:off x="246401" y="2041675"/>
            <a:ext cx="6001774" cy="38307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0" name="Shape 200"/>
        <p:cNvGrpSpPr/>
        <p:nvPr/>
      </p:nvGrpSpPr>
      <p:grpSpPr>
        <a:xfrm>
          <a:off x="0" y="0"/>
          <a:ext cx="0" cy="0"/>
          <a:chOff x="0" y="0"/>
          <a:chExt cx="0" cy="0"/>
        </a:xfrm>
      </p:grpSpPr>
      <p:pic>
        <p:nvPicPr>
          <p:cNvPr descr="image.png" id="201" name="Google Shape;201;p21"/>
          <p:cNvPicPr preferRelativeResize="0"/>
          <p:nvPr/>
        </p:nvPicPr>
        <p:blipFill rotWithShape="1">
          <a:blip r:embed="rId3">
            <a:alphaModFix/>
          </a:blip>
          <a:srcRect b="0" l="0" r="0" t="0"/>
          <a:stretch/>
        </p:blipFill>
        <p:spPr>
          <a:xfrm>
            <a:off x="0" y="-145675"/>
            <a:ext cx="12192000" cy="6858000"/>
          </a:xfrm>
          <a:prstGeom prst="rect">
            <a:avLst/>
          </a:prstGeom>
          <a:noFill/>
          <a:ln>
            <a:noFill/>
          </a:ln>
        </p:spPr>
      </p:pic>
      <p:sp>
        <p:nvSpPr>
          <p:cNvPr id="202" name="Google Shape;202;p21"/>
          <p:cNvSpPr/>
          <p:nvPr/>
        </p:nvSpPr>
        <p:spPr>
          <a:xfrm>
            <a:off x="9334500" y="-952500"/>
            <a:ext cx="3810000" cy="3810000"/>
          </a:xfrm>
          <a:prstGeom prst="roundRect">
            <a:avLst>
              <a:gd fmla="val 16667" name="adj"/>
            </a:avLst>
          </a:prstGeom>
          <a:solidFill>
            <a:srgbClr val="00606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03" name="Google Shape;203;p21"/>
          <p:cNvSpPr txBox="1"/>
          <p:nvPr/>
        </p:nvSpPr>
        <p:spPr>
          <a:xfrm>
            <a:off x="762000" y="571500"/>
            <a:ext cx="11401425" cy="5619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300" u="none" cap="none" strike="noStrike">
                <a:solidFill>
                  <a:srgbClr val="0F172A"/>
                </a:solidFill>
                <a:latin typeface="Playfair Display"/>
                <a:ea typeface="Playfair Display"/>
                <a:cs typeface="Playfair Display"/>
                <a:sym typeface="Playfair Display"/>
              </a:rPr>
              <a:t>Cost Function: Metode Ward</a:t>
            </a:r>
            <a:endParaRPr/>
          </a:p>
        </p:txBody>
      </p:sp>
      <p:sp>
        <p:nvSpPr>
          <p:cNvPr id="204" name="Google Shape;204;p21"/>
          <p:cNvSpPr/>
          <p:nvPr/>
        </p:nvSpPr>
        <p:spPr>
          <a:xfrm>
            <a:off x="571500" y="571500"/>
            <a:ext cx="47625" cy="561975"/>
          </a:xfrm>
          <a:prstGeom prst="rect">
            <a:avLst/>
          </a:prstGeom>
          <a:solidFill>
            <a:srgbClr val="00ACC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05" name="Google Shape;205;p21"/>
          <p:cNvSpPr txBox="1"/>
          <p:nvPr/>
        </p:nvSpPr>
        <p:spPr>
          <a:xfrm>
            <a:off x="571500" y="1835269"/>
            <a:ext cx="5238900" cy="872700"/>
          </a:xfrm>
          <a:prstGeom prst="rect">
            <a:avLst/>
          </a:prstGeom>
          <a:noFill/>
          <a:ln>
            <a:noFill/>
          </a:ln>
        </p:spPr>
        <p:txBody>
          <a:bodyPr anchorCtr="0" anchor="t" bIns="0" lIns="0" spcFirstLastPara="1" rIns="0" wrap="square" tIns="0">
            <a:spAutoFit/>
          </a:bodyPr>
          <a:lstStyle/>
          <a:p>
            <a:pPr indent="0" lvl="0" marL="0" marR="0" rtl="0" algn="just">
              <a:lnSpc>
                <a:spcPct val="160000"/>
              </a:lnSpc>
              <a:spcBef>
                <a:spcPts val="0"/>
              </a:spcBef>
              <a:spcAft>
                <a:spcPts val="0"/>
              </a:spcAft>
              <a:buNone/>
            </a:pPr>
            <a:r>
              <a:rPr b="0" i="0" lang="en-US" sz="1350" u="none" cap="none" strike="noStrike">
                <a:solidFill>
                  <a:srgbClr val="334155"/>
                </a:solidFill>
                <a:latin typeface="Lato"/>
                <a:ea typeface="Lato"/>
                <a:cs typeface="Lato"/>
                <a:sym typeface="Lato"/>
              </a:rPr>
              <a:t>Dalam Hierarchical Clustering, konsep "Cost Function" paling baik dijelaskan melalui </a:t>
            </a:r>
            <a:r>
              <a:rPr b="1" i="0" lang="en-US" sz="1350" u="none" cap="none" strike="noStrike">
                <a:solidFill>
                  <a:srgbClr val="334155"/>
                </a:solidFill>
                <a:latin typeface="Lato"/>
                <a:ea typeface="Lato"/>
                <a:cs typeface="Lato"/>
                <a:sym typeface="Lato"/>
              </a:rPr>
              <a:t>Metode Ward</a:t>
            </a:r>
            <a:r>
              <a:rPr b="0" i="0" lang="en-US" sz="1350" u="none" cap="none" strike="noStrike">
                <a:solidFill>
                  <a:srgbClr val="334155"/>
                </a:solidFill>
                <a:latin typeface="Lato"/>
                <a:ea typeface="Lato"/>
                <a:cs typeface="Lato"/>
                <a:sym typeface="Lato"/>
              </a:rPr>
              <a:t>. Tujuannya bukan sekadar jarak, melainkan meminimalkan total </a:t>
            </a:r>
            <a:r>
              <a:rPr b="0" i="0" lang="en-US" sz="1350" u="none" cap="none" strike="noStrike">
                <a:solidFill>
                  <a:srgbClr val="334155"/>
                </a:solidFill>
                <a:latin typeface="Lato"/>
                <a:ea typeface="Lato"/>
                <a:cs typeface="Lato"/>
                <a:sym typeface="Lato"/>
              </a:rPr>
              <a:t>varian</a:t>
            </a:r>
            <a:r>
              <a:rPr b="0" i="0" lang="en-US" sz="1350" u="none" cap="none" strike="noStrike">
                <a:solidFill>
                  <a:srgbClr val="334155"/>
                </a:solidFill>
                <a:latin typeface="Lato"/>
                <a:ea typeface="Lato"/>
                <a:cs typeface="Lato"/>
                <a:sym typeface="Lato"/>
              </a:rPr>
              <a:t> intra-cluster.</a:t>
            </a:r>
            <a:endParaRPr/>
          </a:p>
        </p:txBody>
      </p:sp>
      <p:sp>
        <p:nvSpPr>
          <p:cNvPr id="206" name="Google Shape;206;p21"/>
          <p:cNvSpPr txBox="1"/>
          <p:nvPr/>
        </p:nvSpPr>
        <p:spPr>
          <a:xfrm>
            <a:off x="619125" y="2987715"/>
            <a:ext cx="5238900" cy="1205100"/>
          </a:xfrm>
          <a:prstGeom prst="rect">
            <a:avLst/>
          </a:prstGeom>
          <a:noFill/>
          <a:ln>
            <a:noFill/>
          </a:ln>
        </p:spPr>
        <p:txBody>
          <a:bodyPr anchorCtr="0" anchor="t" bIns="0" lIns="0" spcFirstLastPara="1" rIns="0" wrap="square" tIns="0">
            <a:spAutoFit/>
          </a:bodyPr>
          <a:lstStyle/>
          <a:p>
            <a:pPr indent="0" lvl="0" marL="0" marR="0" rtl="0" algn="just">
              <a:lnSpc>
                <a:spcPct val="160000"/>
              </a:lnSpc>
              <a:spcBef>
                <a:spcPts val="0"/>
              </a:spcBef>
              <a:spcAft>
                <a:spcPts val="0"/>
              </a:spcAft>
              <a:buNone/>
            </a:pPr>
            <a:r>
              <a:rPr b="0" i="0" lang="en-US" sz="1350" u="none" cap="none" strike="noStrike">
                <a:solidFill>
                  <a:srgbClr val="334155"/>
                </a:solidFill>
                <a:latin typeface="Lato"/>
                <a:ea typeface="Lato"/>
                <a:cs typeface="Lato"/>
                <a:sym typeface="Lato"/>
              </a:rPr>
              <a:t>Pada setiap langkah penggabungan, algoritma menghitung "biaya" penggabungan, yaitu seberapa besar kenaikan </a:t>
            </a:r>
            <a:r>
              <a:rPr b="0" i="1" lang="en-US" sz="1350" u="none" cap="none" strike="noStrike">
                <a:solidFill>
                  <a:srgbClr val="334155"/>
                </a:solidFill>
                <a:latin typeface="Lato"/>
                <a:ea typeface="Lato"/>
                <a:cs typeface="Lato"/>
                <a:sym typeface="Lato"/>
              </a:rPr>
              <a:t>Error Sum of Squares</a:t>
            </a:r>
            <a:r>
              <a:rPr b="0" i="0" lang="en-US" sz="1350" u="none" cap="none" strike="noStrike">
                <a:solidFill>
                  <a:srgbClr val="334155"/>
                </a:solidFill>
                <a:latin typeface="Lato"/>
                <a:ea typeface="Lato"/>
                <a:cs typeface="Lato"/>
                <a:sym typeface="Lato"/>
              </a:rPr>
              <a:t> (ESS) yang akan terjadi jika dua cluster digabungkan. </a:t>
            </a:r>
            <a:r>
              <a:rPr lang="en-US" sz="1350">
                <a:solidFill>
                  <a:srgbClr val="334155"/>
                </a:solidFill>
                <a:latin typeface="Lato"/>
                <a:ea typeface="Lato"/>
                <a:cs typeface="Lato"/>
                <a:sym typeface="Lato"/>
              </a:rPr>
              <a:t>Ward method </a:t>
            </a:r>
            <a:r>
              <a:rPr b="0" i="0" lang="en-US" sz="1350" u="none" cap="none" strike="noStrike">
                <a:solidFill>
                  <a:srgbClr val="334155"/>
                </a:solidFill>
                <a:latin typeface="Lato"/>
                <a:ea typeface="Lato"/>
                <a:cs typeface="Lato"/>
                <a:sym typeface="Lato"/>
              </a:rPr>
              <a:t>memilih pasangan yang memberikan kenaikan ESS terkecil.</a:t>
            </a:r>
            <a:endParaRPr/>
          </a:p>
        </p:txBody>
      </p:sp>
      <p:sp>
        <p:nvSpPr>
          <p:cNvPr id="207" name="Google Shape;207;p21"/>
          <p:cNvSpPr txBox="1"/>
          <p:nvPr/>
        </p:nvSpPr>
        <p:spPr>
          <a:xfrm>
            <a:off x="571500" y="4442664"/>
            <a:ext cx="5238900" cy="540300"/>
          </a:xfrm>
          <a:prstGeom prst="rect">
            <a:avLst/>
          </a:prstGeom>
          <a:noFill/>
          <a:ln>
            <a:noFill/>
          </a:ln>
        </p:spPr>
        <p:txBody>
          <a:bodyPr anchorCtr="0" anchor="t" bIns="0" lIns="0" spcFirstLastPara="1" rIns="0" wrap="square" tIns="0">
            <a:spAutoFit/>
          </a:bodyPr>
          <a:lstStyle/>
          <a:p>
            <a:pPr indent="0" lvl="0" marL="0" marR="0" rtl="0" algn="just">
              <a:lnSpc>
                <a:spcPct val="160000"/>
              </a:lnSpc>
              <a:spcBef>
                <a:spcPts val="0"/>
              </a:spcBef>
              <a:spcAft>
                <a:spcPts val="0"/>
              </a:spcAft>
              <a:buNone/>
            </a:pPr>
            <a:r>
              <a:rPr b="0" i="0" lang="en-US" sz="1350" u="none" cap="none" strike="noStrike">
                <a:solidFill>
                  <a:srgbClr val="334155"/>
                </a:solidFill>
                <a:latin typeface="Lato"/>
                <a:ea typeface="Lato"/>
                <a:cs typeface="Lato"/>
                <a:sym typeface="Lato"/>
              </a:rPr>
              <a:t>Ini menjamin bahwa cluster yang terbentuk tetap sekompak mungkin dan varians data di dalamnya tetap rendah.</a:t>
            </a:r>
            <a:endParaRPr/>
          </a:p>
        </p:txBody>
      </p:sp>
      <p:pic>
        <p:nvPicPr>
          <p:cNvPr id="208" name="Google Shape;208;p21"/>
          <p:cNvPicPr preferRelativeResize="0"/>
          <p:nvPr/>
        </p:nvPicPr>
        <p:blipFill>
          <a:blip r:embed="rId4">
            <a:alphaModFix/>
          </a:blip>
          <a:stretch>
            <a:fillRect/>
          </a:stretch>
        </p:blipFill>
        <p:spPr>
          <a:xfrm>
            <a:off x="6669838" y="3159338"/>
            <a:ext cx="3819525" cy="809625"/>
          </a:xfrm>
          <a:prstGeom prst="rect">
            <a:avLst/>
          </a:prstGeom>
          <a:noFill/>
          <a:ln>
            <a:noFill/>
          </a:ln>
        </p:spPr>
      </p:pic>
      <p:pic>
        <p:nvPicPr>
          <p:cNvPr id="209" name="Google Shape;209;p21"/>
          <p:cNvPicPr preferRelativeResize="0"/>
          <p:nvPr/>
        </p:nvPicPr>
        <p:blipFill rotWithShape="1">
          <a:blip r:embed="rId5">
            <a:alphaModFix/>
          </a:blip>
          <a:srcRect b="0" l="0" r="-250" t="0"/>
          <a:stretch/>
        </p:blipFill>
        <p:spPr>
          <a:xfrm>
            <a:off x="6669850" y="4270825"/>
            <a:ext cx="3819525" cy="819150"/>
          </a:xfrm>
          <a:prstGeom prst="rect">
            <a:avLst/>
          </a:prstGeom>
          <a:noFill/>
          <a:ln>
            <a:noFill/>
          </a:ln>
        </p:spPr>
      </p:pic>
      <p:sp>
        <p:nvSpPr>
          <p:cNvPr id="210" name="Google Shape;210;p21"/>
          <p:cNvSpPr txBox="1"/>
          <p:nvPr/>
        </p:nvSpPr>
        <p:spPr>
          <a:xfrm>
            <a:off x="493050" y="5143150"/>
            <a:ext cx="5756700" cy="1057500"/>
          </a:xfrm>
          <a:prstGeom prst="rect">
            <a:avLst/>
          </a:prstGeom>
          <a:noFill/>
          <a:ln>
            <a:noFill/>
          </a:ln>
        </p:spPr>
        <p:txBody>
          <a:bodyPr anchorCtr="0" anchor="t" bIns="91425" lIns="91425" spcFirstLastPara="1" rIns="91425" wrap="square" tIns="91425">
            <a:spAutoFit/>
          </a:bodyPr>
          <a:lstStyle/>
          <a:p>
            <a:pPr indent="0" lvl="0" marL="0" rtl="0" algn="just">
              <a:lnSpc>
                <a:spcPct val="160000"/>
              </a:lnSpc>
              <a:spcBef>
                <a:spcPts val="0"/>
              </a:spcBef>
              <a:spcAft>
                <a:spcPts val="0"/>
              </a:spcAft>
              <a:buNone/>
            </a:pPr>
            <a:r>
              <a:rPr b="1" lang="en-US" sz="1350">
                <a:solidFill>
                  <a:srgbClr val="334155"/>
                </a:solidFill>
                <a:latin typeface="Lato"/>
                <a:ea typeface="Lato"/>
                <a:cs typeface="Lato"/>
                <a:sym typeface="Lato"/>
              </a:rPr>
              <a:t>μ</a:t>
            </a:r>
            <a:r>
              <a:rPr b="1" lang="en-US" sz="1350">
                <a:solidFill>
                  <a:srgbClr val="334155"/>
                </a:solidFill>
                <a:latin typeface="Lato"/>
                <a:ea typeface="Lato"/>
                <a:cs typeface="Lato"/>
                <a:sym typeface="Lato"/>
              </a:rPr>
              <a:t>A</a:t>
            </a:r>
            <a:r>
              <a:rPr lang="en-US" sz="1350">
                <a:solidFill>
                  <a:srgbClr val="334155"/>
                </a:solidFill>
                <a:latin typeface="Lato"/>
                <a:ea typeface="Lato"/>
                <a:cs typeface="Lato"/>
                <a:sym typeface="Lato"/>
              </a:rPr>
              <a:t> = </a:t>
            </a:r>
            <a:r>
              <a:rPr lang="en-US" sz="1350">
                <a:solidFill>
                  <a:srgbClr val="334155"/>
                </a:solidFill>
                <a:latin typeface="Lato"/>
                <a:ea typeface="Lato"/>
                <a:cs typeface="Lato"/>
                <a:sym typeface="Lato"/>
              </a:rPr>
              <a:t>centroid cluster A</a:t>
            </a:r>
            <a:endParaRPr sz="1350">
              <a:solidFill>
                <a:srgbClr val="334155"/>
              </a:solidFill>
              <a:latin typeface="Lato"/>
              <a:ea typeface="Lato"/>
              <a:cs typeface="Lato"/>
              <a:sym typeface="Lato"/>
            </a:endParaRPr>
          </a:p>
          <a:p>
            <a:pPr indent="0" lvl="0" marL="0" rtl="0" algn="just">
              <a:lnSpc>
                <a:spcPct val="160000"/>
              </a:lnSpc>
              <a:spcBef>
                <a:spcPts val="0"/>
              </a:spcBef>
              <a:spcAft>
                <a:spcPts val="0"/>
              </a:spcAft>
              <a:buNone/>
            </a:pPr>
            <a:r>
              <a:rPr b="1" lang="en-US" sz="1350">
                <a:solidFill>
                  <a:srgbClr val="334155"/>
                </a:solidFill>
                <a:latin typeface="Lato"/>
                <a:ea typeface="Lato"/>
                <a:cs typeface="Lato"/>
                <a:sym typeface="Lato"/>
              </a:rPr>
              <a:t>μB</a:t>
            </a:r>
            <a:r>
              <a:rPr lang="en-US" sz="1350">
                <a:solidFill>
                  <a:srgbClr val="334155"/>
                </a:solidFill>
                <a:latin typeface="Lato"/>
                <a:ea typeface="Lato"/>
                <a:cs typeface="Lato"/>
                <a:sym typeface="Lato"/>
              </a:rPr>
              <a:t> = centroid cluster B</a:t>
            </a:r>
            <a:endParaRPr sz="1350">
              <a:solidFill>
                <a:srgbClr val="334155"/>
              </a:solidFill>
              <a:latin typeface="Lato"/>
              <a:ea typeface="Lato"/>
              <a:cs typeface="Lato"/>
              <a:sym typeface="Lato"/>
            </a:endParaRPr>
          </a:p>
          <a:p>
            <a:pPr indent="0" lvl="0" marL="0" rtl="0" algn="just">
              <a:lnSpc>
                <a:spcPct val="160000"/>
              </a:lnSpc>
              <a:spcBef>
                <a:spcPts val="0"/>
              </a:spcBef>
              <a:spcAft>
                <a:spcPts val="0"/>
              </a:spcAft>
              <a:buClr>
                <a:schemeClr val="dk1"/>
              </a:buClr>
              <a:buSzPts val="1100"/>
              <a:buFont typeface="Arial"/>
              <a:buNone/>
            </a:pPr>
            <a:r>
              <a:rPr b="1" lang="en-US" sz="1350">
                <a:solidFill>
                  <a:srgbClr val="334155"/>
                </a:solidFill>
                <a:latin typeface="Lato"/>
                <a:ea typeface="Lato"/>
                <a:cs typeface="Lato"/>
                <a:sym typeface="Lato"/>
              </a:rPr>
              <a:t>μA​−μB​2</a:t>
            </a:r>
            <a:r>
              <a:rPr lang="en-US" sz="1350">
                <a:solidFill>
                  <a:srgbClr val="334155"/>
                </a:solidFill>
                <a:latin typeface="Lato"/>
                <a:ea typeface="Lato"/>
                <a:cs typeface="Lato"/>
                <a:sym typeface="Lato"/>
              </a:rPr>
              <a:t> = jarak kuadrat antar centroid</a:t>
            </a:r>
            <a:endParaRPr sz="1350">
              <a:solidFill>
                <a:srgbClr val="334155"/>
              </a:solidFill>
              <a:latin typeface="Lato"/>
              <a:ea typeface="Lato"/>
              <a:cs typeface="Lato"/>
              <a:sym typeface="Lato"/>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14" name="Shape 214"/>
        <p:cNvGrpSpPr/>
        <p:nvPr/>
      </p:nvGrpSpPr>
      <p:grpSpPr>
        <a:xfrm>
          <a:off x="0" y="0"/>
          <a:ext cx="0" cy="0"/>
          <a:chOff x="0" y="0"/>
          <a:chExt cx="0" cy="0"/>
        </a:xfrm>
      </p:grpSpPr>
      <p:pic>
        <p:nvPicPr>
          <p:cNvPr descr="image.png" id="215" name="Google Shape;215;p22"/>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216" name="Google Shape;216;p22"/>
          <p:cNvPicPr preferRelativeResize="0"/>
          <p:nvPr/>
        </p:nvPicPr>
        <p:blipFill rotWithShape="1">
          <a:blip r:embed="rId4">
            <a:alphaModFix/>
          </a:blip>
          <a:srcRect b="0" l="0" r="0" t="0"/>
          <a:stretch/>
        </p:blipFill>
        <p:spPr>
          <a:xfrm>
            <a:off x="571500" y="3442816"/>
            <a:ext cx="5238750" cy="2990701"/>
          </a:xfrm>
          <a:prstGeom prst="rect">
            <a:avLst/>
          </a:prstGeom>
          <a:noFill/>
          <a:ln>
            <a:noFill/>
          </a:ln>
        </p:spPr>
      </p:pic>
      <p:pic>
        <p:nvPicPr>
          <p:cNvPr descr="image.png" id="217" name="Google Shape;217;p22"/>
          <p:cNvPicPr preferRelativeResize="0"/>
          <p:nvPr/>
        </p:nvPicPr>
        <p:blipFill rotWithShape="1">
          <a:blip r:embed="rId5">
            <a:alphaModFix/>
          </a:blip>
          <a:srcRect b="0" l="0" r="0" t="0"/>
          <a:stretch/>
        </p:blipFill>
        <p:spPr>
          <a:xfrm>
            <a:off x="6381750" y="3429012"/>
            <a:ext cx="5238750" cy="2990701"/>
          </a:xfrm>
          <a:prstGeom prst="rect">
            <a:avLst/>
          </a:prstGeom>
          <a:noFill/>
          <a:ln>
            <a:noFill/>
          </a:ln>
        </p:spPr>
      </p:pic>
      <p:sp>
        <p:nvSpPr>
          <p:cNvPr id="218" name="Google Shape;218;p22"/>
          <p:cNvSpPr/>
          <p:nvPr/>
        </p:nvSpPr>
        <p:spPr>
          <a:xfrm>
            <a:off x="-476250" y="4476750"/>
            <a:ext cx="2857500" cy="2857500"/>
          </a:xfrm>
          <a:prstGeom prst="roundRect">
            <a:avLst>
              <a:gd fmla="val 16667" name="adj"/>
            </a:avLst>
          </a:prstGeom>
          <a:solidFill>
            <a:srgbClr val="4DD0E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19" name="Google Shape;219;p22"/>
          <p:cNvSpPr txBox="1"/>
          <p:nvPr/>
        </p:nvSpPr>
        <p:spPr>
          <a:xfrm>
            <a:off x="762000" y="571500"/>
            <a:ext cx="11401425" cy="5619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300" u="none" cap="none" strike="noStrike">
                <a:solidFill>
                  <a:srgbClr val="0F172A"/>
                </a:solidFill>
                <a:latin typeface="Playfair Display"/>
                <a:ea typeface="Playfair Display"/>
                <a:cs typeface="Playfair Display"/>
                <a:sym typeface="Playfair Display"/>
              </a:rPr>
              <a:t>Cara Membaca Dendrogram</a:t>
            </a:r>
            <a:endParaRPr/>
          </a:p>
        </p:txBody>
      </p:sp>
      <p:sp>
        <p:nvSpPr>
          <p:cNvPr id="220" name="Google Shape;220;p22"/>
          <p:cNvSpPr/>
          <p:nvPr/>
        </p:nvSpPr>
        <p:spPr>
          <a:xfrm>
            <a:off x="571500" y="571500"/>
            <a:ext cx="47625" cy="561975"/>
          </a:xfrm>
          <a:prstGeom prst="rect">
            <a:avLst/>
          </a:prstGeom>
          <a:solidFill>
            <a:srgbClr val="00ACC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21" name="Google Shape;221;p22"/>
          <p:cNvSpPr txBox="1"/>
          <p:nvPr/>
        </p:nvSpPr>
        <p:spPr>
          <a:xfrm>
            <a:off x="819150" y="3186112"/>
            <a:ext cx="4980600" cy="277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800" u="none" cap="none" strike="noStrike">
                <a:solidFill>
                  <a:srgbClr val="006064"/>
                </a:solidFill>
                <a:latin typeface="Playfair Display"/>
                <a:ea typeface="Playfair Display"/>
                <a:cs typeface="Playfair Display"/>
                <a:sym typeface="Playfair Display"/>
              </a:rPr>
              <a:t>Sumbu Y (Tinggi/Jarak)</a:t>
            </a:r>
            <a:endParaRPr/>
          </a:p>
        </p:txBody>
      </p:sp>
      <p:sp>
        <p:nvSpPr>
          <p:cNvPr id="222" name="Google Shape;222;p22"/>
          <p:cNvSpPr txBox="1"/>
          <p:nvPr/>
        </p:nvSpPr>
        <p:spPr>
          <a:xfrm>
            <a:off x="819150" y="3633787"/>
            <a:ext cx="4743600" cy="1537800"/>
          </a:xfrm>
          <a:prstGeom prst="rect">
            <a:avLst/>
          </a:prstGeom>
          <a:noFill/>
          <a:ln>
            <a:noFill/>
          </a:ln>
        </p:spPr>
        <p:txBody>
          <a:bodyPr anchorCtr="0" anchor="t" bIns="0" lIns="0" spcFirstLastPara="1" rIns="0" wrap="square" tIns="0">
            <a:spAutoFit/>
          </a:bodyPr>
          <a:lstStyle/>
          <a:p>
            <a:pPr indent="0" lvl="0" marL="0" marR="0" rtl="0" algn="just">
              <a:lnSpc>
                <a:spcPct val="160000"/>
              </a:lnSpc>
              <a:spcBef>
                <a:spcPts val="0"/>
              </a:spcBef>
              <a:spcAft>
                <a:spcPts val="0"/>
              </a:spcAft>
              <a:buNone/>
            </a:pPr>
            <a:r>
              <a:rPr b="0" i="0" lang="en-US" sz="1350" u="none" cap="none" strike="noStrike">
                <a:solidFill>
                  <a:srgbClr val="334155"/>
                </a:solidFill>
                <a:latin typeface="Lato"/>
                <a:ea typeface="Lato"/>
                <a:cs typeface="Lato"/>
                <a:sym typeface="Lato"/>
              </a:rPr>
              <a:t>Sumbu vertikal ini sangat krusial karena merepresentasikan jarak atau tingkat ketidakmiripan (dissimilarity) antar cluster saat mereka digabungkan. Semakin tinggi posisi garis horizontal penghubung, semakin besar perbedaan antara cluster yang digabungkan tersebut.</a:t>
            </a:r>
            <a:endParaRPr/>
          </a:p>
        </p:txBody>
      </p:sp>
      <p:sp>
        <p:nvSpPr>
          <p:cNvPr id="223" name="Google Shape;223;p22"/>
          <p:cNvSpPr txBox="1"/>
          <p:nvPr/>
        </p:nvSpPr>
        <p:spPr>
          <a:xfrm>
            <a:off x="6629400" y="3186112"/>
            <a:ext cx="4980600" cy="277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800" u="none" cap="none" strike="noStrike">
                <a:solidFill>
                  <a:srgbClr val="006064"/>
                </a:solidFill>
                <a:latin typeface="Playfair Display"/>
                <a:ea typeface="Playfair Display"/>
                <a:cs typeface="Playfair Display"/>
                <a:sym typeface="Playfair Display"/>
              </a:rPr>
              <a:t>Garis &amp; Cluster</a:t>
            </a:r>
            <a:endParaRPr/>
          </a:p>
        </p:txBody>
      </p:sp>
      <p:sp>
        <p:nvSpPr>
          <p:cNvPr id="224" name="Google Shape;224;p22"/>
          <p:cNvSpPr txBox="1"/>
          <p:nvPr/>
        </p:nvSpPr>
        <p:spPr>
          <a:xfrm>
            <a:off x="6629400" y="3633787"/>
            <a:ext cx="4743600" cy="1537800"/>
          </a:xfrm>
          <a:prstGeom prst="rect">
            <a:avLst/>
          </a:prstGeom>
          <a:noFill/>
          <a:ln>
            <a:noFill/>
          </a:ln>
        </p:spPr>
        <p:txBody>
          <a:bodyPr anchorCtr="0" anchor="t" bIns="0" lIns="0" spcFirstLastPara="1" rIns="0" wrap="square" tIns="0">
            <a:spAutoFit/>
          </a:bodyPr>
          <a:lstStyle/>
          <a:p>
            <a:pPr indent="0" lvl="0" marL="0" marR="0" rtl="0" algn="just">
              <a:lnSpc>
                <a:spcPct val="160000"/>
              </a:lnSpc>
              <a:spcBef>
                <a:spcPts val="0"/>
              </a:spcBef>
              <a:spcAft>
                <a:spcPts val="0"/>
              </a:spcAft>
              <a:buNone/>
            </a:pPr>
            <a:r>
              <a:rPr b="0" i="0" lang="en-US" sz="1350" u="none" cap="none" strike="noStrike">
                <a:solidFill>
                  <a:srgbClr val="334155"/>
                </a:solidFill>
                <a:latin typeface="Lato"/>
                <a:ea typeface="Lato"/>
                <a:cs typeface="Lato"/>
                <a:sym typeface="Lato"/>
              </a:rPr>
              <a:t>Garis-garis vertikal mewakili anggota cluster, dan palang horizontal mewakili peristiwa penggabungan. Panjang garis vertikal sebelum bertemu palang horizontal menunjukkan seberapa "terpisah" atau stabil cluster tersebut dari cluster lainnya dalam hierarki.</a:t>
            </a:r>
            <a:endParaRPr/>
          </a:p>
        </p:txBody>
      </p:sp>
      <p:pic>
        <p:nvPicPr>
          <p:cNvPr descr="image.png" id="225" name="Google Shape;225;p22"/>
          <p:cNvPicPr preferRelativeResize="0"/>
          <p:nvPr/>
        </p:nvPicPr>
        <p:blipFill rotWithShape="1">
          <a:blip r:embed="rId6">
            <a:alphaModFix/>
          </a:blip>
          <a:srcRect b="0" l="0" r="0" t="0"/>
          <a:stretch/>
        </p:blipFill>
        <p:spPr>
          <a:xfrm>
            <a:off x="819150" y="2700337"/>
            <a:ext cx="171450" cy="342900"/>
          </a:xfrm>
          <a:prstGeom prst="rect">
            <a:avLst/>
          </a:prstGeom>
          <a:noFill/>
          <a:ln>
            <a:noFill/>
          </a:ln>
        </p:spPr>
      </p:pic>
      <p:pic>
        <p:nvPicPr>
          <p:cNvPr descr="image.png" id="226" name="Google Shape;226;p22"/>
          <p:cNvPicPr preferRelativeResize="0"/>
          <p:nvPr/>
        </p:nvPicPr>
        <p:blipFill rotWithShape="1">
          <a:blip r:embed="rId7">
            <a:alphaModFix/>
          </a:blip>
          <a:srcRect b="0" l="0" r="0" t="0"/>
          <a:stretch/>
        </p:blipFill>
        <p:spPr>
          <a:xfrm>
            <a:off x="6629400" y="2700337"/>
            <a:ext cx="133350" cy="3429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30" name="Shape 230"/>
        <p:cNvGrpSpPr/>
        <p:nvPr/>
      </p:nvGrpSpPr>
      <p:grpSpPr>
        <a:xfrm>
          <a:off x="0" y="0"/>
          <a:ext cx="0" cy="0"/>
          <a:chOff x="0" y="0"/>
          <a:chExt cx="0" cy="0"/>
        </a:xfrm>
      </p:grpSpPr>
      <p:pic>
        <p:nvPicPr>
          <p:cNvPr descr="image.png" id="231" name="Google Shape;231;p23"/>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232" name="Google Shape;232;p23"/>
          <p:cNvPicPr preferRelativeResize="0"/>
          <p:nvPr/>
        </p:nvPicPr>
        <p:blipFill rotWithShape="1">
          <a:blip r:embed="rId4">
            <a:alphaModFix/>
          </a:blip>
          <a:srcRect b="0" l="0" r="0" t="0"/>
          <a:stretch/>
        </p:blipFill>
        <p:spPr>
          <a:xfrm>
            <a:off x="571500" y="2267991"/>
            <a:ext cx="3524250" cy="3264991"/>
          </a:xfrm>
          <a:prstGeom prst="rect">
            <a:avLst/>
          </a:prstGeom>
          <a:noFill/>
          <a:ln>
            <a:noFill/>
          </a:ln>
        </p:spPr>
      </p:pic>
      <p:pic>
        <p:nvPicPr>
          <p:cNvPr descr="image.png" id="233" name="Google Shape;233;p23"/>
          <p:cNvPicPr preferRelativeResize="0"/>
          <p:nvPr/>
        </p:nvPicPr>
        <p:blipFill rotWithShape="1">
          <a:blip r:embed="rId5">
            <a:alphaModFix/>
          </a:blip>
          <a:srcRect b="0" l="0" r="0" t="0"/>
          <a:stretch/>
        </p:blipFill>
        <p:spPr>
          <a:xfrm>
            <a:off x="4333875" y="2267991"/>
            <a:ext cx="3524250" cy="3264991"/>
          </a:xfrm>
          <a:prstGeom prst="rect">
            <a:avLst/>
          </a:prstGeom>
          <a:noFill/>
          <a:ln>
            <a:noFill/>
          </a:ln>
        </p:spPr>
      </p:pic>
      <p:pic>
        <p:nvPicPr>
          <p:cNvPr descr="image.png" id="234" name="Google Shape;234;p23"/>
          <p:cNvPicPr preferRelativeResize="0"/>
          <p:nvPr/>
        </p:nvPicPr>
        <p:blipFill rotWithShape="1">
          <a:blip r:embed="rId6">
            <a:alphaModFix/>
          </a:blip>
          <a:srcRect b="0" l="0" r="0" t="0"/>
          <a:stretch/>
        </p:blipFill>
        <p:spPr>
          <a:xfrm>
            <a:off x="8096250" y="2267991"/>
            <a:ext cx="3524250" cy="3264991"/>
          </a:xfrm>
          <a:prstGeom prst="rect">
            <a:avLst/>
          </a:prstGeom>
          <a:noFill/>
          <a:ln>
            <a:noFill/>
          </a:ln>
        </p:spPr>
      </p:pic>
      <p:sp>
        <p:nvSpPr>
          <p:cNvPr id="235" name="Google Shape;235;p23"/>
          <p:cNvSpPr txBox="1"/>
          <p:nvPr/>
        </p:nvSpPr>
        <p:spPr>
          <a:xfrm>
            <a:off x="762000" y="571500"/>
            <a:ext cx="11401425" cy="5619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300" u="none" cap="none" strike="noStrike">
                <a:solidFill>
                  <a:srgbClr val="0F172A"/>
                </a:solidFill>
                <a:latin typeface="Playfair Display"/>
                <a:ea typeface="Playfair Display"/>
                <a:cs typeface="Playfair Display"/>
                <a:sym typeface="Playfair Display"/>
              </a:rPr>
              <a:t>Contoh Aplikasi di Dunia Nyata</a:t>
            </a:r>
            <a:endParaRPr/>
          </a:p>
        </p:txBody>
      </p:sp>
      <p:sp>
        <p:nvSpPr>
          <p:cNvPr id="236" name="Google Shape;236;p23"/>
          <p:cNvSpPr/>
          <p:nvPr/>
        </p:nvSpPr>
        <p:spPr>
          <a:xfrm>
            <a:off x="571500" y="571500"/>
            <a:ext cx="47625" cy="561975"/>
          </a:xfrm>
          <a:prstGeom prst="rect">
            <a:avLst/>
          </a:prstGeom>
          <a:solidFill>
            <a:srgbClr val="00ACC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37" name="Google Shape;237;p23"/>
          <p:cNvSpPr txBox="1"/>
          <p:nvPr/>
        </p:nvSpPr>
        <p:spPr>
          <a:xfrm>
            <a:off x="819150" y="3077616"/>
            <a:ext cx="3180397" cy="30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800" u="none" cap="none" strike="noStrike">
                <a:solidFill>
                  <a:srgbClr val="006064"/>
                </a:solidFill>
                <a:latin typeface="Playfair Display"/>
                <a:ea typeface="Playfair Display"/>
                <a:cs typeface="Playfair Display"/>
                <a:sym typeface="Playfair Display"/>
              </a:rPr>
              <a:t>Biologi &amp; Taksonomi</a:t>
            </a:r>
            <a:endParaRPr/>
          </a:p>
        </p:txBody>
      </p:sp>
      <p:sp>
        <p:nvSpPr>
          <p:cNvPr id="238" name="Google Shape;238;p23"/>
          <p:cNvSpPr txBox="1"/>
          <p:nvPr/>
        </p:nvSpPr>
        <p:spPr>
          <a:xfrm>
            <a:off x="819150" y="3496716"/>
            <a:ext cx="3029100" cy="1870200"/>
          </a:xfrm>
          <a:prstGeom prst="rect">
            <a:avLst/>
          </a:prstGeom>
          <a:noFill/>
          <a:ln>
            <a:noFill/>
          </a:ln>
        </p:spPr>
        <p:txBody>
          <a:bodyPr anchorCtr="0" anchor="t" bIns="0" lIns="0" spcFirstLastPara="1" rIns="0" wrap="square" tIns="0">
            <a:spAutoFit/>
          </a:bodyPr>
          <a:lstStyle/>
          <a:p>
            <a:pPr indent="0" lvl="0" marL="0" marR="0" rtl="0" algn="just">
              <a:lnSpc>
                <a:spcPct val="160000"/>
              </a:lnSpc>
              <a:spcBef>
                <a:spcPts val="0"/>
              </a:spcBef>
              <a:spcAft>
                <a:spcPts val="0"/>
              </a:spcAft>
              <a:buNone/>
            </a:pPr>
            <a:r>
              <a:rPr b="0" i="0" lang="en-US" sz="1350" u="none" cap="none" strike="noStrike">
                <a:solidFill>
                  <a:srgbClr val="334155"/>
                </a:solidFill>
                <a:latin typeface="Lato"/>
                <a:ea typeface="Lato"/>
                <a:cs typeface="Lato"/>
                <a:sym typeface="Lato"/>
              </a:rPr>
              <a:t>Digunakan secara luas dalam biologi evolusioner untuk membangun pohon filogenetik, yang memetakan hubungan kekerabatan antar spesies berdasarkan kemiripan urutan DNA atau karakteristik fisik.</a:t>
            </a:r>
            <a:endParaRPr/>
          </a:p>
        </p:txBody>
      </p:sp>
      <p:sp>
        <p:nvSpPr>
          <p:cNvPr id="239" name="Google Shape;239;p23"/>
          <p:cNvSpPr txBox="1"/>
          <p:nvPr/>
        </p:nvSpPr>
        <p:spPr>
          <a:xfrm>
            <a:off x="4581525" y="3077616"/>
            <a:ext cx="3180397" cy="30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800" u="none" cap="none" strike="noStrike">
                <a:solidFill>
                  <a:srgbClr val="006064"/>
                </a:solidFill>
                <a:latin typeface="Playfair Display"/>
                <a:ea typeface="Playfair Display"/>
                <a:cs typeface="Playfair Display"/>
                <a:sym typeface="Playfair Display"/>
              </a:rPr>
              <a:t>Analisis Pasar</a:t>
            </a:r>
            <a:endParaRPr/>
          </a:p>
        </p:txBody>
      </p:sp>
      <p:sp>
        <p:nvSpPr>
          <p:cNvPr id="240" name="Google Shape;240;p23"/>
          <p:cNvSpPr txBox="1"/>
          <p:nvPr/>
        </p:nvSpPr>
        <p:spPr>
          <a:xfrm>
            <a:off x="4581525" y="3496716"/>
            <a:ext cx="3029100" cy="1870200"/>
          </a:xfrm>
          <a:prstGeom prst="rect">
            <a:avLst/>
          </a:prstGeom>
          <a:noFill/>
          <a:ln>
            <a:noFill/>
          </a:ln>
        </p:spPr>
        <p:txBody>
          <a:bodyPr anchorCtr="0" anchor="t" bIns="0" lIns="0" spcFirstLastPara="1" rIns="0" wrap="square" tIns="0">
            <a:spAutoFit/>
          </a:bodyPr>
          <a:lstStyle/>
          <a:p>
            <a:pPr indent="0" lvl="0" marL="0" marR="0" rtl="0" algn="just">
              <a:lnSpc>
                <a:spcPct val="160000"/>
              </a:lnSpc>
              <a:spcBef>
                <a:spcPts val="0"/>
              </a:spcBef>
              <a:spcAft>
                <a:spcPts val="0"/>
              </a:spcAft>
              <a:buNone/>
            </a:pPr>
            <a:r>
              <a:rPr b="0" i="0" lang="en-US" sz="1350" u="none" cap="none" strike="noStrike">
                <a:solidFill>
                  <a:srgbClr val="334155"/>
                </a:solidFill>
                <a:latin typeface="Lato"/>
                <a:ea typeface="Lato"/>
                <a:cs typeface="Lato"/>
                <a:sym typeface="Lato"/>
              </a:rPr>
              <a:t>Pemasar menggunakannya untuk segmentasi pelanggan yang mendalam, mengidentifikasi kelompok perilaku konsumen dari yang sangat spesifik (niche) hingga kategori belanja yang lebih umum.</a:t>
            </a:r>
            <a:endParaRPr/>
          </a:p>
        </p:txBody>
      </p:sp>
      <p:sp>
        <p:nvSpPr>
          <p:cNvPr id="241" name="Google Shape;241;p23"/>
          <p:cNvSpPr txBox="1"/>
          <p:nvPr/>
        </p:nvSpPr>
        <p:spPr>
          <a:xfrm>
            <a:off x="8343900" y="3077616"/>
            <a:ext cx="3180397" cy="30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800" u="none" cap="none" strike="noStrike">
                <a:solidFill>
                  <a:srgbClr val="006064"/>
                </a:solidFill>
                <a:latin typeface="Playfair Display"/>
                <a:ea typeface="Playfair Display"/>
                <a:cs typeface="Playfair Display"/>
                <a:sym typeface="Playfair Display"/>
              </a:rPr>
              <a:t>Organisasi Dokumen</a:t>
            </a:r>
            <a:endParaRPr/>
          </a:p>
        </p:txBody>
      </p:sp>
      <p:sp>
        <p:nvSpPr>
          <p:cNvPr id="242" name="Google Shape;242;p23"/>
          <p:cNvSpPr txBox="1"/>
          <p:nvPr/>
        </p:nvSpPr>
        <p:spPr>
          <a:xfrm>
            <a:off x="8343900" y="3496716"/>
            <a:ext cx="3029100" cy="1537800"/>
          </a:xfrm>
          <a:prstGeom prst="rect">
            <a:avLst/>
          </a:prstGeom>
          <a:noFill/>
          <a:ln>
            <a:noFill/>
          </a:ln>
        </p:spPr>
        <p:txBody>
          <a:bodyPr anchorCtr="0" anchor="t" bIns="0" lIns="0" spcFirstLastPara="1" rIns="0" wrap="square" tIns="0">
            <a:spAutoFit/>
          </a:bodyPr>
          <a:lstStyle/>
          <a:p>
            <a:pPr indent="0" lvl="0" marL="0" marR="0" rtl="0" algn="just">
              <a:lnSpc>
                <a:spcPct val="160000"/>
              </a:lnSpc>
              <a:spcBef>
                <a:spcPts val="0"/>
              </a:spcBef>
              <a:spcAft>
                <a:spcPts val="0"/>
              </a:spcAft>
              <a:buNone/>
            </a:pPr>
            <a:r>
              <a:rPr b="0" i="0" lang="en-US" sz="1350" u="none" cap="none" strike="noStrike">
                <a:solidFill>
                  <a:srgbClr val="334155"/>
                </a:solidFill>
                <a:latin typeface="Lato"/>
                <a:ea typeface="Lato"/>
                <a:cs typeface="Lato"/>
                <a:sym typeface="Lato"/>
              </a:rPr>
              <a:t>Dalam pemrosesan bahasa alami (NLP), teknik ini membantu mengelompokkan ribuan artikel berita atau dokumen hukum ke dalam hierarki topik utama dan sub-topik secara otomatis.</a:t>
            </a:r>
            <a:endParaRPr/>
          </a:p>
        </p:txBody>
      </p:sp>
      <p:pic>
        <p:nvPicPr>
          <p:cNvPr descr="image.png" id="243" name="Google Shape;243;p23"/>
          <p:cNvPicPr preferRelativeResize="0"/>
          <p:nvPr/>
        </p:nvPicPr>
        <p:blipFill rotWithShape="1">
          <a:blip r:embed="rId7">
            <a:alphaModFix/>
          </a:blip>
          <a:srcRect b="0" l="0" r="0" t="0"/>
          <a:stretch/>
        </p:blipFill>
        <p:spPr>
          <a:xfrm>
            <a:off x="819150" y="2563266"/>
            <a:ext cx="304800" cy="342900"/>
          </a:xfrm>
          <a:prstGeom prst="rect">
            <a:avLst/>
          </a:prstGeom>
          <a:noFill/>
          <a:ln>
            <a:noFill/>
          </a:ln>
        </p:spPr>
      </p:pic>
      <p:pic>
        <p:nvPicPr>
          <p:cNvPr descr="image.png" id="244" name="Google Shape;244;p23"/>
          <p:cNvPicPr preferRelativeResize="0"/>
          <p:nvPr/>
        </p:nvPicPr>
        <p:blipFill rotWithShape="1">
          <a:blip r:embed="rId8">
            <a:alphaModFix/>
          </a:blip>
          <a:srcRect b="0" l="0" r="0" t="0"/>
          <a:stretch/>
        </p:blipFill>
        <p:spPr>
          <a:xfrm>
            <a:off x="4581525" y="2563266"/>
            <a:ext cx="428625" cy="342900"/>
          </a:xfrm>
          <a:prstGeom prst="rect">
            <a:avLst/>
          </a:prstGeom>
          <a:noFill/>
          <a:ln>
            <a:noFill/>
          </a:ln>
        </p:spPr>
      </p:pic>
      <p:pic>
        <p:nvPicPr>
          <p:cNvPr descr="image.png" id="245" name="Google Shape;245;p23"/>
          <p:cNvPicPr preferRelativeResize="0"/>
          <p:nvPr/>
        </p:nvPicPr>
        <p:blipFill rotWithShape="1">
          <a:blip r:embed="rId9">
            <a:alphaModFix/>
          </a:blip>
          <a:srcRect b="0" l="0" r="0" t="0"/>
          <a:stretch/>
        </p:blipFill>
        <p:spPr>
          <a:xfrm>
            <a:off x="8343900" y="2563266"/>
            <a:ext cx="257175" cy="3429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49" name="Shape 249"/>
        <p:cNvGrpSpPr/>
        <p:nvPr/>
      </p:nvGrpSpPr>
      <p:grpSpPr>
        <a:xfrm>
          <a:off x="0" y="0"/>
          <a:ext cx="0" cy="0"/>
          <a:chOff x="0" y="0"/>
          <a:chExt cx="0" cy="0"/>
        </a:xfrm>
      </p:grpSpPr>
      <p:pic>
        <p:nvPicPr>
          <p:cNvPr descr="image.png" id="250" name="Google Shape;250;p24"/>
          <p:cNvPicPr preferRelativeResize="0"/>
          <p:nvPr/>
        </p:nvPicPr>
        <p:blipFill rotWithShape="1">
          <a:blip r:embed="rId3">
            <a:alphaModFix/>
          </a:blip>
          <a:srcRect b="0" l="0" r="0" t="0"/>
          <a:stretch/>
        </p:blipFill>
        <p:spPr>
          <a:xfrm>
            <a:off x="0" y="911075"/>
            <a:ext cx="12192000" cy="6858000"/>
          </a:xfrm>
          <a:prstGeom prst="rect">
            <a:avLst/>
          </a:prstGeom>
          <a:noFill/>
          <a:ln>
            <a:noFill/>
          </a:ln>
        </p:spPr>
      </p:pic>
      <p:sp>
        <p:nvSpPr>
          <p:cNvPr id="251" name="Google Shape;251;p24"/>
          <p:cNvSpPr txBox="1"/>
          <p:nvPr/>
        </p:nvSpPr>
        <p:spPr>
          <a:xfrm>
            <a:off x="790500" y="254000"/>
            <a:ext cx="11401500" cy="507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3300">
                <a:solidFill>
                  <a:srgbClr val="0F172A"/>
                </a:solidFill>
                <a:latin typeface="Playfair Display"/>
                <a:ea typeface="Playfair Display"/>
                <a:cs typeface="Playfair Display"/>
                <a:sym typeface="Playfair Display"/>
              </a:rPr>
              <a:t>Studi Kasus</a:t>
            </a:r>
            <a:endParaRPr/>
          </a:p>
        </p:txBody>
      </p:sp>
      <p:sp>
        <p:nvSpPr>
          <p:cNvPr id="252" name="Google Shape;252;p24"/>
          <p:cNvSpPr/>
          <p:nvPr/>
        </p:nvSpPr>
        <p:spPr>
          <a:xfrm>
            <a:off x="571500" y="571500"/>
            <a:ext cx="47700" cy="561900"/>
          </a:xfrm>
          <a:prstGeom prst="rect">
            <a:avLst/>
          </a:prstGeom>
          <a:solidFill>
            <a:srgbClr val="00ACC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53" name="Google Shape;253;p24"/>
          <p:cNvSpPr txBox="1"/>
          <p:nvPr/>
        </p:nvSpPr>
        <p:spPr>
          <a:xfrm>
            <a:off x="790500" y="2262825"/>
            <a:ext cx="4667100" cy="1249800"/>
          </a:xfrm>
          <a:prstGeom prst="rect">
            <a:avLst/>
          </a:prstGeom>
          <a:noFill/>
          <a:ln>
            <a:noFill/>
          </a:ln>
        </p:spPr>
        <p:txBody>
          <a:bodyPr anchorCtr="0" anchor="t" bIns="0" lIns="0" spcFirstLastPara="1" rIns="0" wrap="square" tIns="0">
            <a:spAutoFit/>
          </a:bodyPr>
          <a:lstStyle/>
          <a:p>
            <a:pPr indent="0" lvl="0" marL="0" marR="0" rtl="0" algn="just">
              <a:lnSpc>
                <a:spcPct val="160000"/>
              </a:lnSpc>
              <a:spcBef>
                <a:spcPts val="0"/>
              </a:spcBef>
              <a:spcAft>
                <a:spcPts val="0"/>
              </a:spcAft>
              <a:buNone/>
            </a:pPr>
            <a:r>
              <a:rPr lang="en-US"/>
              <a:t>Studi kasus ini bertujuan untuk mengelompokkan pengunjung mall berdasarkan Pendapatan tahunan dan pengeluaran. Feature nya adalah Annual Income dan Spending score.</a:t>
            </a:r>
            <a:endParaRPr/>
          </a:p>
        </p:txBody>
      </p:sp>
      <p:sp>
        <p:nvSpPr>
          <p:cNvPr id="254" name="Google Shape;254;p24"/>
          <p:cNvSpPr txBox="1"/>
          <p:nvPr/>
        </p:nvSpPr>
        <p:spPr>
          <a:xfrm>
            <a:off x="2794500" y="1133400"/>
            <a:ext cx="6603000" cy="905700"/>
          </a:xfrm>
          <a:prstGeom prst="rect">
            <a:avLst/>
          </a:prstGeom>
          <a:noFill/>
          <a:ln>
            <a:noFill/>
          </a:ln>
        </p:spPr>
        <p:txBody>
          <a:bodyPr anchorCtr="0" anchor="t" bIns="0" lIns="0" spcFirstLastPara="1" rIns="0" wrap="square" tIns="0">
            <a:spAutoFit/>
          </a:bodyPr>
          <a:lstStyle/>
          <a:p>
            <a:pPr indent="0" lvl="0" marL="0" rtl="0" algn="ctr">
              <a:lnSpc>
                <a:spcPct val="115000"/>
              </a:lnSpc>
              <a:spcBef>
                <a:spcPts val="0"/>
              </a:spcBef>
              <a:spcAft>
                <a:spcPts val="0"/>
              </a:spcAft>
              <a:buClr>
                <a:schemeClr val="dk1"/>
              </a:buClr>
              <a:buSzPts val="1100"/>
              <a:buFont typeface="Arial"/>
              <a:buNone/>
            </a:pPr>
            <a:r>
              <a:rPr b="1" lang="en-US" sz="1800">
                <a:solidFill>
                  <a:srgbClr val="006064"/>
                </a:solidFill>
                <a:highlight>
                  <a:srgbClr val="FFFFFF"/>
                </a:highlight>
                <a:latin typeface="Playfair Display"/>
                <a:ea typeface="Playfair Display"/>
                <a:cs typeface="Playfair Display"/>
                <a:sym typeface="Playfair Display"/>
              </a:rPr>
              <a:t>Pengelompokan Pelanggan Mall </a:t>
            </a:r>
            <a:endParaRPr b="1" sz="1800">
              <a:solidFill>
                <a:srgbClr val="006064"/>
              </a:solidFill>
              <a:highlight>
                <a:srgbClr val="FFFFFF"/>
              </a:highlight>
              <a:latin typeface="Playfair Display"/>
              <a:ea typeface="Playfair Display"/>
              <a:cs typeface="Playfair Display"/>
              <a:sym typeface="Playfair Display"/>
            </a:endParaRPr>
          </a:p>
          <a:p>
            <a:pPr indent="0" lvl="0" marL="0" rtl="0" algn="l">
              <a:lnSpc>
                <a:spcPct val="115000"/>
              </a:lnSpc>
              <a:spcBef>
                <a:spcPts val="900"/>
              </a:spcBef>
              <a:spcAft>
                <a:spcPts val="0"/>
              </a:spcAft>
              <a:buClr>
                <a:schemeClr val="dk1"/>
              </a:buClr>
              <a:buSzPts val="1100"/>
              <a:buFont typeface="Arial"/>
              <a:buNone/>
            </a:pPr>
            <a:r>
              <a:t/>
            </a:r>
            <a:endParaRPr sz="1100">
              <a:solidFill>
                <a:schemeClr val="dk1"/>
              </a:solidFill>
            </a:endParaRPr>
          </a:p>
          <a:p>
            <a:pPr indent="0" lvl="0" marL="0" marR="0" rtl="0" algn="l">
              <a:spcBef>
                <a:spcPts val="0"/>
              </a:spcBef>
              <a:spcAft>
                <a:spcPts val="0"/>
              </a:spcAft>
              <a:buNone/>
            </a:pPr>
            <a:r>
              <a:t/>
            </a:r>
            <a:endParaRPr b="1" sz="1800">
              <a:solidFill>
                <a:srgbClr val="006064"/>
              </a:solidFill>
              <a:latin typeface="Playfair Display"/>
              <a:ea typeface="Playfair Display"/>
              <a:cs typeface="Playfair Display"/>
              <a:sym typeface="Playfair Display"/>
            </a:endParaRPr>
          </a:p>
        </p:txBody>
      </p:sp>
      <p:sp>
        <p:nvSpPr>
          <p:cNvPr id="255" name="Google Shape;255;p24"/>
          <p:cNvSpPr txBox="1"/>
          <p:nvPr/>
        </p:nvSpPr>
        <p:spPr>
          <a:xfrm>
            <a:off x="6381750" y="3655647"/>
            <a:ext cx="5238900" cy="2079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t/>
            </a:r>
            <a:endParaRPr sz="1350">
              <a:solidFill>
                <a:srgbClr val="334155"/>
              </a:solidFill>
              <a:latin typeface="Lato"/>
              <a:ea typeface="Lato"/>
              <a:cs typeface="Lato"/>
              <a:sym typeface="Lato"/>
            </a:endParaRPr>
          </a:p>
        </p:txBody>
      </p:sp>
      <p:pic>
        <p:nvPicPr>
          <p:cNvPr id="256" name="Google Shape;256;p24"/>
          <p:cNvPicPr preferRelativeResize="0"/>
          <p:nvPr/>
        </p:nvPicPr>
        <p:blipFill>
          <a:blip r:embed="rId4">
            <a:alphaModFix/>
          </a:blip>
          <a:stretch>
            <a:fillRect/>
          </a:stretch>
        </p:blipFill>
        <p:spPr>
          <a:xfrm>
            <a:off x="5769975" y="2262825"/>
            <a:ext cx="3841625" cy="435257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60" name="Shape 260"/>
        <p:cNvGrpSpPr/>
        <p:nvPr/>
      </p:nvGrpSpPr>
      <p:grpSpPr>
        <a:xfrm>
          <a:off x="0" y="0"/>
          <a:ext cx="0" cy="0"/>
          <a:chOff x="0" y="0"/>
          <a:chExt cx="0" cy="0"/>
        </a:xfrm>
      </p:grpSpPr>
      <p:pic>
        <p:nvPicPr>
          <p:cNvPr descr="image.png" id="261" name="Google Shape;261;p25"/>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262" name="Google Shape;262;p25"/>
          <p:cNvSpPr/>
          <p:nvPr/>
        </p:nvSpPr>
        <p:spPr>
          <a:xfrm>
            <a:off x="-476250" y="4476750"/>
            <a:ext cx="2857500" cy="2857500"/>
          </a:xfrm>
          <a:prstGeom prst="roundRect">
            <a:avLst>
              <a:gd fmla="val 16667" name="adj"/>
            </a:avLst>
          </a:prstGeom>
          <a:solidFill>
            <a:srgbClr val="4DD0E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63" name="Google Shape;263;p25"/>
          <p:cNvSpPr txBox="1"/>
          <p:nvPr/>
        </p:nvSpPr>
        <p:spPr>
          <a:xfrm>
            <a:off x="3095625" y="1642318"/>
            <a:ext cx="6000750" cy="754260"/>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None/>
            </a:pPr>
            <a:r>
              <a:rPr b="1" i="0" lang="en-US" sz="5400" u="none" cap="none" strike="noStrike">
                <a:solidFill>
                  <a:srgbClr val="0F172A"/>
                </a:solidFill>
                <a:latin typeface="Playfair Display"/>
                <a:ea typeface="Playfair Display"/>
                <a:cs typeface="Playfair Display"/>
                <a:sym typeface="Playfair Display"/>
              </a:rPr>
              <a:t>Kesimpulan Akhir</a:t>
            </a:r>
            <a:endParaRPr/>
          </a:p>
        </p:txBody>
      </p:sp>
      <p:sp>
        <p:nvSpPr>
          <p:cNvPr id="264" name="Google Shape;264;p25"/>
          <p:cNvSpPr txBox="1"/>
          <p:nvPr/>
        </p:nvSpPr>
        <p:spPr>
          <a:xfrm>
            <a:off x="1333500" y="2587079"/>
            <a:ext cx="9525000" cy="1828353"/>
          </a:xfrm>
          <a:prstGeom prst="rect">
            <a:avLst/>
          </a:prstGeom>
          <a:noFill/>
          <a:ln>
            <a:noFill/>
          </a:ln>
        </p:spPr>
        <p:txBody>
          <a:bodyPr anchorCtr="0" anchor="t" bIns="0" lIns="0" spcFirstLastPara="1" rIns="0" wrap="square" tIns="0">
            <a:spAutoFit/>
          </a:bodyPr>
          <a:lstStyle/>
          <a:p>
            <a:pPr indent="0" lvl="0" marL="0" marR="0" rtl="0" algn="ctr">
              <a:lnSpc>
                <a:spcPct val="159944"/>
              </a:lnSpc>
              <a:spcBef>
                <a:spcPts val="0"/>
              </a:spcBef>
              <a:spcAft>
                <a:spcPts val="0"/>
              </a:spcAft>
              <a:buNone/>
            </a:pPr>
            <a:r>
              <a:rPr b="0" i="0" lang="en-US" sz="1800" u="none" cap="none" strike="noStrike">
                <a:solidFill>
                  <a:srgbClr val="64748B"/>
                </a:solidFill>
                <a:latin typeface="Lato"/>
                <a:ea typeface="Lato"/>
                <a:cs typeface="Lato"/>
                <a:sym typeface="Lato"/>
              </a:rPr>
              <a:t>Hierarchical Clustering menawarkan keseimbangan unik antara wawasan visual yang mendalam dan analisis struktur data yang kompleks. Meskipun memiliki tantangan dalam hal efisiensi komputasi pada data besar, kemampuannya untuk mengungkap hubungan hierarkis tanpa asumsi awal menjadikannya alat yang tak ternilai dalam tahap eksplorasi data (Exploratory Data Analysis).</a:t>
            </a:r>
            <a:endParaRPr/>
          </a:p>
        </p:txBody>
      </p:sp>
      <p:sp>
        <p:nvSpPr>
          <p:cNvPr id="265" name="Google Shape;265;p25"/>
          <p:cNvSpPr txBox="1"/>
          <p:nvPr/>
        </p:nvSpPr>
        <p:spPr>
          <a:xfrm>
            <a:off x="5110162" y="4939307"/>
            <a:ext cx="1971675" cy="276225"/>
          </a:xfrm>
          <a:prstGeom prst="rect">
            <a:avLst/>
          </a:prstGeom>
          <a:noFill/>
          <a:ln>
            <a:noFill/>
          </a:ln>
        </p:spPr>
        <p:txBody>
          <a:bodyPr anchorCtr="0" anchor="t" bIns="0" lIns="228600" spcFirstLastPara="1" rIns="0" wrap="square" tIns="0">
            <a:spAutoFit/>
          </a:bodyPr>
          <a:lstStyle/>
          <a:p>
            <a:pPr indent="0" lvl="0" marL="0" marR="0" rtl="0" algn="ctr">
              <a:spcBef>
                <a:spcPts val="0"/>
              </a:spcBef>
              <a:spcAft>
                <a:spcPts val="0"/>
              </a:spcAft>
              <a:buNone/>
            </a:pPr>
            <a:r>
              <a:rPr b="0" i="0" lang="en-US" sz="1800" u="none" cap="none" strike="noStrike">
                <a:solidFill>
                  <a:srgbClr val="006064"/>
                </a:solidFill>
                <a:latin typeface="Lato"/>
                <a:ea typeface="Lato"/>
                <a:cs typeface="Lato"/>
                <a:sym typeface="Lato"/>
              </a:rPr>
              <a:t>Sesi Tanya Jawab</a:t>
            </a:r>
            <a:endParaRPr/>
          </a:p>
        </p:txBody>
      </p:sp>
      <p:pic>
        <p:nvPicPr>
          <p:cNvPr descr="image.png" id="266" name="Google Shape;266;p25"/>
          <p:cNvPicPr preferRelativeResize="0"/>
          <p:nvPr/>
        </p:nvPicPr>
        <p:blipFill rotWithShape="1">
          <a:blip r:embed="rId4">
            <a:alphaModFix/>
          </a:blip>
          <a:srcRect b="0" l="0" r="0" t="0"/>
          <a:stretch/>
        </p:blipFill>
        <p:spPr>
          <a:xfrm>
            <a:off x="5110162" y="4967882"/>
            <a:ext cx="228600" cy="2286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